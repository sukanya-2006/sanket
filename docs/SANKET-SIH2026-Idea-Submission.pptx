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9052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700" b="1">
                <a:solidFill>
                  <a:srgbClr val="1F4E79"/>
                </a:solidFill>
                <a:latin typeface="Times New Roman"/>
              </a:rPr>
              <a:t>SMART INDIA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Times New Roman"/>
              </a:rPr>
              <a:t>TITLE PAGE</a:t>
            </a:r>
          </a:p>
        </p:txBody>
      </p:sp>
      <p:pic>
        <p:nvPicPr>
          <p:cNvPr id="4" name="Picture 3" descr="sih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256032"/>
            <a:ext cx="2091527" cy="987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1965960"/>
            <a:ext cx="1060704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750" b="1">
                <a:solidFill>
                  <a:srgbClr val="1A1A1A"/>
                </a:solidFill>
                <a:latin typeface="Arial"/>
              </a:rPr>
              <a:t>•  Problem Statement ID -  SIH26165</a:t>
            </a:r>
          </a:p>
          <a:p>
            <a:pPr algn="l">
              <a:spcAft>
                <a:spcPts val="1600"/>
              </a:spcAft>
            </a:pPr>
            <a:r>
              <a:rPr sz="1750" b="1">
                <a:solidFill>
                  <a:srgbClr val="1A1A1A"/>
                </a:solidFill>
                <a:latin typeface="Arial"/>
              </a:rPr>
              <a:t>•  Problem Statement Title -  AI/NLP Engine to Detect Serious Injury &amp; Fatality (SIF) Precursors in OIL's Unsafe-Act/Unsafe-Condition and Near-Miss Reports</a:t>
            </a:r>
          </a:p>
          <a:p>
            <a:pPr algn="l">
              <a:spcAft>
                <a:spcPts val="1600"/>
              </a:spcAft>
            </a:pPr>
            <a:r>
              <a:rPr sz="1750" b="1">
                <a:solidFill>
                  <a:srgbClr val="1A1A1A"/>
                </a:solidFill>
                <a:latin typeface="Arial"/>
              </a:rPr>
              <a:t>•  Theme -  Smart Automation</a:t>
            </a:r>
          </a:p>
          <a:p>
            <a:pPr algn="l">
              <a:spcAft>
                <a:spcPts val="1600"/>
              </a:spcAft>
            </a:pPr>
            <a:r>
              <a:rPr sz="1750" b="1">
                <a:solidFill>
                  <a:srgbClr val="1A1A1A"/>
                </a:solidFill>
                <a:latin typeface="Arial"/>
              </a:rPr>
              <a:t>•  PS Category -  Software</a:t>
            </a:r>
          </a:p>
          <a:p>
            <a:pPr algn="l">
              <a:spcAft>
                <a:spcPts val="1600"/>
              </a:spcAft>
            </a:pPr>
            <a:r>
              <a:rPr sz="1750" b="1">
                <a:solidFill>
                  <a:srgbClr val="1A1A1A"/>
                </a:solidFill>
                <a:latin typeface="Arial"/>
              </a:rPr>
              <a:t>•  Team ID -  ____</a:t>
            </a:r>
          </a:p>
          <a:p>
            <a:pPr algn="l">
              <a:spcAft>
                <a:spcPts val="1600"/>
              </a:spcAft>
            </a:pPr>
            <a:r>
              <a:rPr sz="1750" b="1">
                <a:solidFill>
                  <a:srgbClr val="1A1A1A"/>
                </a:solidFill>
                <a:latin typeface="Arial"/>
              </a:rPr>
              <a:t>•  Team Name -  Signal-0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669280"/>
            <a:ext cx="1060704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5797296"/>
            <a:ext cx="10149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F4E79"/>
                </a:solidFill>
                <a:latin typeface="Arial"/>
              </a:rPr>
              <a:t>Working prototype:   https://sanket-frontend.onrender.com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" y="182880"/>
            <a:ext cx="1298448" cy="6035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Arial"/>
              </a:rPr>
              <a:t>Signal-0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83080" y="128016"/>
            <a:ext cx="8229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000000"/>
                </a:solidFill>
                <a:latin typeface="Times New Roman"/>
              </a:rPr>
              <a:t>SANKET — From Incident Narratives to Early Safety Warnings</a:t>
            </a:r>
          </a:p>
        </p:txBody>
      </p:sp>
      <p:pic>
        <p:nvPicPr>
          <p:cNvPr id="4" name="Picture 3" descr="sih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146304"/>
            <a:ext cx="1549279" cy="7315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73952"/>
            <a:ext cx="12191695" cy="384047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537960"/>
            <a:ext cx="121916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1575" y="6537960"/>
            <a:ext cx="594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11091672" cy="658368"/>
          </a:xfrm>
          <a:prstGeom prst="rect">
            <a:avLst/>
          </a:prstGeom>
          <a:solidFill>
            <a:srgbClr val="E8F1F8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21615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F4E79"/>
                </a:solidFill>
                <a:latin typeface="Arial"/>
              </a:rPr>
              <a:t>SANKET analyzes safety / near-miss reports using AI to detect potential Serious Injury &amp; Fatality (SIF) precursors.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901952"/>
            <a:ext cx="5486400" cy="2286000"/>
          </a:xfrm>
          <a:prstGeom prst="rect">
            <a:avLst/>
          </a:prstGeom>
          <a:solidFill>
            <a:srgbClr val="F2F6FA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901952"/>
            <a:ext cx="5486400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002536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Identifies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5420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0">
                <a:solidFill>
                  <a:srgbClr val="1A1A1A"/>
                </a:solidFill>
                <a:latin typeface="Arial"/>
              </a:rPr>
              <a:t>●  Hazard &amp; Life-Saving Rule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1A1A1A"/>
                </a:solidFill>
                <a:latin typeface="Arial"/>
              </a:rPr>
              <a:t>●  Control status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1A1A1A"/>
                </a:solidFill>
                <a:latin typeface="Arial"/>
              </a:rPr>
              <a:t>●  Severity (1–5)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1A1A1A"/>
                </a:solidFill>
                <a:latin typeface="Arial"/>
              </a:rPr>
              <a:t>●  SIF Precursor: Yes / No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1A1A1A"/>
                </a:solidFill>
                <a:latin typeface="Arial"/>
              </a:rPr>
              <a:t>●  Evidence &amp; reasoning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1901952"/>
            <a:ext cx="5486400" cy="2286000"/>
          </a:xfrm>
          <a:prstGeom prst="rect">
            <a:avLst/>
          </a:prstGeom>
          <a:solidFill>
            <a:srgbClr val="F2F6FA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1901952"/>
            <a:ext cx="5486400" cy="475488"/>
          </a:xfrm>
          <a:prstGeom prst="rect">
            <a:avLst/>
          </a:prstGeom>
          <a:solidFill>
            <a:srgbClr val="1E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2002536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Innovation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5420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0">
                <a:solidFill>
                  <a:srgbClr val="1A1A1A"/>
                </a:solidFill>
                <a:latin typeface="Arial"/>
              </a:rPr>
              <a:t>●  LLM + ML hybrid approach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1A1A1A"/>
                </a:solidFill>
                <a:latin typeface="Arial"/>
              </a:rPr>
              <a:t>●  Explainable risk assessment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1A1A1A"/>
                </a:solidFill>
                <a:latin typeface="Arial"/>
              </a:rPr>
              <a:t>●  One-Change severity rule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1A1A1A"/>
                </a:solidFill>
                <a:latin typeface="Arial"/>
              </a:rPr>
              <a:t>●  Prioritized safety-review queue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70832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Arial"/>
              </a:rPr>
              <a:t>HOW A REPORT IS JUDGED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48640" y="4700016"/>
          <a:ext cx="1109167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206240"/>
                <a:gridCol w="5056632"/>
              </a:tblGrid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Gate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Question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Possible answers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1  Hazard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Is a high-energy hazard present?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yes  ·  no  ·  insufficient information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2  Control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Was a safety barrier doing its job?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absent  ·  failed  ·  present  ·  unclear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3  Severity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How bad could it realistically have been?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1  to  5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" y="182880"/>
            <a:ext cx="1298448" cy="6035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Arial"/>
              </a:rPr>
              <a:t>Signal-0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83080" y="128016"/>
            <a:ext cx="8229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100" b="1">
                <a:solidFill>
                  <a:srgbClr val="000000"/>
                </a:solidFill>
                <a:latin typeface="Times New Roman"/>
              </a:rPr>
              <a:t>TECHNICAL APPROACH</a:t>
            </a:r>
          </a:p>
        </p:txBody>
      </p:sp>
      <p:pic>
        <p:nvPicPr>
          <p:cNvPr id="4" name="Picture 3" descr="sih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146304"/>
            <a:ext cx="1549279" cy="7315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73952"/>
            <a:ext cx="12191695" cy="384047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537960"/>
            <a:ext cx="121916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1575" y="6537960"/>
            <a:ext cx="594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806440" cy="3794760"/>
          </a:xfrm>
          <a:prstGeom prst="rect">
            <a:avLst/>
          </a:prstGeom>
          <a:solidFill>
            <a:srgbClr val="F2F6FA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24128"/>
            <a:ext cx="5806440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5806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Tech Stack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58368" y="1664208"/>
          <a:ext cx="5394960" cy="2816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194560"/>
                <a:gridCol w="1828800"/>
              </a:tblGrid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Layer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Technology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Purpose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Frontend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React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worker + admin screens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Backend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FastAPI (Python)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REST API, validation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AI model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Groq GPT-OSS-20B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reads the report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Fallback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TF-IDF + LogReg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answers if AI is down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Database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Supabase (PostgreSQL)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reports + predictions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Cache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SQLite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on-instance, repeat calls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0" y="1024128"/>
            <a:ext cx="2606040" cy="3794760"/>
          </a:xfrm>
          <a:prstGeom prst="rect">
            <a:avLst/>
          </a:prstGeom>
          <a:solidFill>
            <a:srgbClr val="F2F6FA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024128"/>
            <a:ext cx="2606040" cy="475488"/>
          </a:xfrm>
          <a:prstGeom prst="rect">
            <a:avLst/>
          </a:prstGeom>
          <a:solidFill>
            <a:srgbClr val="1E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124712"/>
            <a:ext cx="2606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Flow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1968" y="1664208"/>
            <a:ext cx="2194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1968" y="1664208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Arial"/>
              </a:rPr>
              <a:t>Report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01968" y="2048256"/>
            <a:ext cx="2194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1968" y="2048256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Arial"/>
              </a:rPr>
              <a:t>AI / NLP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1968" y="2432304"/>
            <a:ext cx="2194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01968" y="2432304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Arial"/>
              </a:rPr>
              <a:t>Hazard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1968" y="2816352"/>
            <a:ext cx="2194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1968" y="2816352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Arial"/>
              </a:rPr>
              <a:t>LSR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01968" y="3200400"/>
            <a:ext cx="2194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01968" y="3200400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Arial"/>
              </a:rPr>
              <a:t>Control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01968" y="3584448"/>
            <a:ext cx="2194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1968" y="3584448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Arial"/>
              </a:rPr>
              <a:t>Severity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1968" y="3968496"/>
            <a:ext cx="2194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1968" y="3968496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Arial"/>
              </a:rPr>
              <a:t>SIF Decision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01968" y="4352544"/>
            <a:ext cx="2194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01968" y="4352544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Arial"/>
              </a:rPr>
              <a:t>Risk Priority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1968" y="1920240"/>
            <a:ext cx="2194560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E7A5E"/>
                </a:solidFill>
                <a:latin typeface="Arial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1968" y="2304288"/>
            <a:ext cx="2194560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E7A5E"/>
                </a:solidFill>
                <a:latin typeface="Arial"/>
              </a:rPr>
              <a:t>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01968" y="2688336"/>
            <a:ext cx="2194560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E7A5E"/>
                </a:solidFill>
                <a:latin typeface="Arial"/>
              </a:rPr>
              <a:t>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01968" y="3072384"/>
            <a:ext cx="2194560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E7A5E"/>
                </a:solidFill>
                <a:latin typeface="Arial"/>
              </a:rPr>
              <a:t>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01968" y="3456432"/>
            <a:ext cx="2194560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E7A5E"/>
                </a:solidFill>
                <a:latin typeface="Arial"/>
              </a:rPr>
              <a:t>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01968" y="3840480"/>
            <a:ext cx="2194560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E7A5E"/>
                </a:solidFill>
                <a:latin typeface="Arial"/>
              </a:rPr>
              <a:t>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01968" y="4224528"/>
            <a:ext cx="2194560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E7A5E"/>
                </a:solidFill>
                <a:latin typeface="Arial"/>
              </a:rPr>
              <a:t>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0" y="1024128"/>
            <a:ext cx="2587752" cy="3794760"/>
          </a:xfrm>
          <a:prstGeom prst="rect">
            <a:avLst/>
          </a:prstGeom>
          <a:solidFill>
            <a:srgbClr val="F2F6FA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0" y="1024128"/>
            <a:ext cx="2587752" cy="475488"/>
          </a:xfrm>
          <a:prstGeom prst="rect">
            <a:avLst/>
          </a:prstGeom>
          <a:solidFill>
            <a:srgbClr val="5B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0" y="1124712"/>
            <a:ext cx="25877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SIF Rule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345168" y="1737360"/>
            <a:ext cx="218541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36608" y="1874519"/>
            <a:ext cx="2002536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1F4E79"/>
                </a:solidFill>
                <a:latin typeface="Arial"/>
              </a:rPr>
              <a:t>Hazard = YES</a:t>
            </a:r>
          </a:p>
          <a:p>
            <a:pPr algn="ctr">
              <a:spcAft>
                <a:spcPts val="700"/>
              </a:spcAft>
            </a:pPr>
            <a:r>
              <a:rPr sz="1300" b="1">
                <a:solidFill>
                  <a:srgbClr val="1F4E79"/>
                </a:solidFill>
                <a:latin typeface="Arial"/>
              </a:rPr>
              <a:t>+  Control =</a:t>
            </a:r>
            <a:br/>
            <a:r>
              <a:rPr sz="1300" b="1">
                <a:solidFill>
                  <a:srgbClr val="1F4E79"/>
                </a:solidFill>
                <a:latin typeface="Arial"/>
              </a:rPr>
              <a:t>Absent / Failed</a:t>
            </a: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Arial"/>
              </a:rPr>
              <a:t>+  Severity ≥ 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345168" y="3218688"/>
            <a:ext cx="2185416" cy="384048"/>
          </a:xfrm>
          <a:prstGeom prst="rect">
            <a:avLst/>
          </a:prstGeom>
          <a:solidFill>
            <a:srgbClr val="5B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45168" y="3310128"/>
            <a:ext cx="21854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→   SIF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45168" y="3730752"/>
            <a:ext cx="218541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A5A5A"/>
                </a:solidFill>
                <a:latin typeface="Arial"/>
              </a:rPr>
              <a:t>All three, or it is not flagged. The flag is computed from the gates, never typed.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956048"/>
            <a:ext cx="11274552" cy="1298448"/>
          </a:xfrm>
          <a:prstGeom prst="rect">
            <a:avLst/>
          </a:prstGeom>
          <a:solidFill>
            <a:srgbClr val="E8F1F8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3232" y="5084064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Arial"/>
              </a:rPr>
              <a:t>SYSTEM ARCHITECTURE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3232" y="5394960"/>
            <a:ext cx="248716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13232" y="5394960"/>
            <a:ext cx="2487168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5449824"/>
            <a:ext cx="226771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0070C0"/>
                </a:solidFill>
                <a:latin typeface="Arial"/>
              </a:rPr>
              <a:t>CLIENT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Arial"/>
              </a:rPr>
              <a:t>React SPA</a:t>
            </a:r>
          </a:p>
          <a:p>
            <a:pPr algn="ctr">
              <a:spcAft>
                <a:spcPts val="0"/>
              </a:spcAft>
            </a:pPr>
            <a:r>
              <a:rPr sz="850" b="0">
                <a:solidFill>
                  <a:srgbClr val="5A5A5A"/>
                </a:solidFill>
                <a:latin typeface="Arial"/>
              </a:rPr>
              <a:t>worker screen  ·  admin triage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18688" y="5614416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070C0"/>
                </a:solidFill>
                <a:latin typeface="Arial"/>
              </a:rPr>
              <a:t>→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474720" y="5394960"/>
            <a:ext cx="248716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474720" y="5394960"/>
            <a:ext cx="2487168" cy="457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584448" y="5449824"/>
            <a:ext cx="226771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1F4E79"/>
                </a:solidFill>
                <a:latin typeface="Arial"/>
              </a:rPr>
              <a:t>API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Arial"/>
              </a:rPr>
              <a:t>FastAPI on Render</a:t>
            </a:r>
          </a:p>
          <a:p>
            <a:pPr algn="ctr">
              <a:spcAft>
                <a:spcPts val="0"/>
              </a:spcAft>
            </a:pPr>
            <a:r>
              <a:rPr sz="850" b="0">
                <a:solidFill>
                  <a:srgbClr val="5A5A5A"/>
                </a:solidFill>
                <a:latin typeface="Arial"/>
              </a:rPr>
              <a:t>REST  ·  validation  ·  auth-ready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0176" y="5614416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070C0"/>
                </a:solidFill>
                <a:latin typeface="Arial"/>
              </a:rPr>
              <a:t>→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36208" y="5394960"/>
            <a:ext cx="248716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36208" y="5394960"/>
            <a:ext cx="2487168" cy="45720"/>
          </a:xfrm>
          <a:prstGeom prst="rect">
            <a:avLst/>
          </a:prstGeom>
          <a:solidFill>
            <a:srgbClr val="1E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45936" y="5449824"/>
            <a:ext cx="226771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1E7A5E"/>
                </a:solidFill>
                <a:latin typeface="Arial"/>
              </a:rPr>
              <a:t>MODELS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Arial"/>
              </a:rPr>
              <a:t>Groq GPT-OSS-20B</a:t>
            </a:r>
          </a:p>
          <a:p>
            <a:pPr algn="ctr">
              <a:spcAft>
                <a:spcPts val="0"/>
              </a:spcAft>
            </a:pPr>
            <a:r>
              <a:rPr sz="850" b="0">
                <a:solidFill>
                  <a:srgbClr val="5A5A5A"/>
                </a:solidFill>
                <a:latin typeface="Arial"/>
              </a:rPr>
              <a:t>with local TF-IDF fallback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41664" y="5614416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070C0"/>
                </a:solidFill>
                <a:latin typeface="Arial"/>
              </a:rPr>
              <a:t>→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997696" y="5394960"/>
            <a:ext cx="248716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997696" y="5394960"/>
            <a:ext cx="2487168" cy="45720"/>
          </a:xfrm>
          <a:prstGeom prst="rect">
            <a:avLst/>
          </a:prstGeom>
          <a:solidFill>
            <a:srgbClr val="5B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07424" y="5449824"/>
            <a:ext cx="226771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5B4EA8"/>
                </a:solidFill>
                <a:latin typeface="Arial"/>
              </a:rPr>
              <a:t>DATA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Arial"/>
              </a:rPr>
              <a:t>Supabase PostgreSQL</a:t>
            </a:r>
          </a:p>
          <a:p>
            <a:pPr algn="ctr">
              <a:spcAft>
                <a:spcPts val="0"/>
              </a:spcAft>
            </a:pPr>
            <a:r>
              <a:rPr sz="850" b="0">
                <a:solidFill>
                  <a:srgbClr val="5A5A5A"/>
                </a:solidFill>
                <a:latin typeface="Arial"/>
              </a:rPr>
              <a:t>reports · predictions · labels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" y="182880"/>
            <a:ext cx="1298448" cy="6035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Arial"/>
              </a:rPr>
              <a:t>Signal-0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83080" y="128016"/>
            <a:ext cx="8229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100" b="1">
                <a:solidFill>
                  <a:srgbClr val="000000"/>
                </a:solidFill>
                <a:latin typeface="Times New Roman"/>
              </a:rPr>
              <a:t>FEASIBILITY AND VIABILITY</a:t>
            </a:r>
          </a:p>
        </p:txBody>
      </p:sp>
      <p:pic>
        <p:nvPicPr>
          <p:cNvPr id="4" name="Picture 3" descr="sih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146304"/>
            <a:ext cx="1549279" cy="7315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73952"/>
            <a:ext cx="12191695" cy="384047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537960"/>
            <a:ext cx="121916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1575" y="6537960"/>
            <a:ext cx="594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4846320" cy="2542032"/>
          </a:xfrm>
          <a:prstGeom prst="rect">
            <a:avLst/>
          </a:prstGeom>
          <a:solidFill>
            <a:srgbClr val="F2F6FA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4846320" cy="475488"/>
          </a:xfrm>
          <a:prstGeom prst="rect">
            <a:avLst/>
          </a:prstGeom>
          <a:solidFill>
            <a:srgbClr val="1E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52144"/>
            <a:ext cx="48463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Feasible because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73736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●  Uses existing incident reports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●  No specialized hardware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●  API-based &amp; scalable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●  LLM + local fallback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●  Human-in-the-loop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2120" y="1097280"/>
            <a:ext cx="6217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Arial"/>
              </a:rPr>
              <a:t>CHALLENGES  →  SOLUTIONS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532120" y="1426464"/>
          <a:ext cx="61996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547872"/>
              </a:tblGrid>
              <a:tr h="41148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Challenge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Solution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Unstructured text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LLM reads it against a written rubric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Ambiguous controls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4-state classification, silence ≠ absent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API failure or rate limit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Retry inside a deadline, then local model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Domain variation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Validated on 30 real OSHA reports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Model version changes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Dashboard scopes to one version at a time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457200" y="4160520"/>
            <a:ext cx="11274552" cy="2075688"/>
          </a:xfrm>
          <a:prstGeom prst="rect">
            <a:avLst/>
          </a:prstGeom>
          <a:solidFill>
            <a:srgbClr val="E8F1F8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334256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4E79"/>
                </a:solidFill>
                <a:latin typeface="Arial"/>
              </a:rPr>
              <a:t>HUMAN-IN-THE-LOOP — the system ranks, a person decides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736592"/>
            <a:ext cx="193852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736592"/>
            <a:ext cx="1755648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F4E79"/>
                </a:solidFill>
                <a:latin typeface="Arial"/>
              </a:rPr>
              <a:t>Report arrives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A5A5A"/>
                </a:solidFill>
                <a:latin typeface="Arial"/>
              </a:rPr>
              <a:t>worker types or speaks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34056" y="5029200"/>
            <a:ext cx="219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070C0"/>
                </a:solidFill>
                <a:latin typeface="Arial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53512" y="4736592"/>
            <a:ext cx="193852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44952" y="4736592"/>
            <a:ext cx="1755648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F4E79"/>
                </a:solidFill>
                <a:latin typeface="Arial"/>
              </a:rPr>
              <a:t>AI classifies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A5A5A"/>
                </a:solidFill>
                <a:latin typeface="Arial"/>
              </a:rPr>
              <a:t>three gates + reasoning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10328" y="5029200"/>
            <a:ext cx="219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070C0"/>
                </a:solidFill>
                <a:latin typeface="Arial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9783" y="4736592"/>
            <a:ext cx="193852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21223" y="4736592"/>
            <a:ext cx="1755648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F4E79"/>
                </a:solidFill>
                <a:latin typeface="Arial"/>
              </a:rPr>
              <a:t>Queue reorders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A5A5A"/>
                </a:solidFill>
                <a:latin typeface="Arial"/>
              </a:rPr>
              <a:t>highest risk first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5029200"/>
            <a:ext cx="219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070C0"/>
                </a:solidFill>
                <a:latin typeface="Arial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06055" y="4736592"/>
            <a:ext cx="193852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97496" y="4736592"/>
            <a:ext cx="1755648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F4E79"/>
                </a:solidFill>
                <a:latin typeface="Arial"/>
              </a:rPr>
              <a:t>Officer reviews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A5A5A"/>
                </a:solidFill>
                <a:latin typeface="Arial"/>
              </a:rPr>
              <a:t>reads the reasoning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5029200"/>
            <a:ext cx="219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070C0"/>
                </a:solidFill>
                <a:latin typeface="Arial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82328" y="4736592"/>
            <a:ext cx="193852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73767" y="4736592"/>
            <a:ext cx="1755648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F4E79"/>
                </a:solidFill>
                <a:latin typeface="Arial"/>
              </a:rPr>
              <a:t>Officer decides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A5A5A"/>
                </a:solidFill>
                <a:latin typeface="Arial"/>
              </a:rPr>
              <a:t>dispatch or archive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715000"/>
            <a:ext cx="106984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43A2E"/>
                </a:solidFill>
                <a:latin typeface="Arial"/>
              </a:rPr>
              <a:t>SANKET never closes a report. It only changes the order they are read 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" y="182880"/>
            <a:ext cx="1298448" cy="6035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Arial"/>
              </a:rPr>
              <a:t>Signal-0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83080" y="128016"/>
            <a:ext cx="8229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100" b="1">
                <a:solidFill>
                  <a:srgbClr val="000000"/>
                </a:solidFill>
                <a:latin typeface="Times New Roman"/>
              </a:rPr>
              <a:t>IMPACT AND BENEFITS</a:t>
            </a:r>
          </a:p>
        </p:txBody>
      </p:sp>
      <p:pic>
        <p:nvPicPr>
          <p:cNvPr id="4" name="Picture 3" descr="sih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146304"/>
            <a:ext cx="1549279" cy="7315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73952"/>
            <a:ext cx="12191695" cy="384047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537960"/>
            <a:ext cx="121916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1575" y="6537960"/>
            <a:ext cx="594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304288"/>
          </a:xfrm>
          <a:prstGeom prst="rect">
            <a:avLst/>
          </a:prstGeom>
          <a:solidFill>
            <a:srgbClr val="F2F6FA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24128"/>
            <a:ext cx="5532120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5532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Potential impact on target audience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1907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●  Early detection of SIF precursors in OIL safety reports</a:t>
            </a:r>
          </a:p>
          <a:p>
            <a:pPr algn="l">
              <a:spcAft>
                <a:spcPts val="13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●  Prioritized review of high-risk incidents</a:t>
            </a:r>
          </a:p>
          <a:p>
            <a:pPr algn="l">
              <a:spcAft>
                <a:spcPts val="13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●  Faster identification of recurring hazards across sites / activities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024128"/>
            <a:ext cx="5532120" cy="2304288"/>
          </a:xfrm>
          <a:prstGeom prst="rect">
            <a:avLst/>
          </a:prstGeom>
          <a:solidFill>
            <a:srgbClr val="F2F6FA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1024128"/>
            <a:ext cx="5532120" cy="475488"/>
          </a:xfrm>
          <a:prstGeom prst="rect">
            <a:avLst/>
          </a:prstGeom>
          <a:solidFill>
            <a:srgbClr val="1E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9632" y="1124712"/>
            <a:ext cx="5532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Benefits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9672" y="171907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●  Safety: proactive intervention before serious incidents</a:t>
            </a:r>
          </a:p>
          <a:p>
            <a:pPr algn="l">
              <a:spcAft>
                <a:spcPts val="13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●  Operational: reduces manual screening effort</a:t>
            </a:r>
          </a:p>
          <a:p>
            <a:pPr algn="l">
              <a:spcAft>
                <a:spcPts val="13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●  Economic: prevents costly injuries and downtime</a:t>
            </a:r>
          </a:p>
          <a:p>
            <a:pPr algn="l">
              <a:spcAft>
                <a:spcPts val="13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●  Scalable: handles large volumes of reports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493008"/>
            <a:ext cx="11274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Arial"/>
              </a:rPr>
              <a:t>MEASURED ON OUR PROTOTYPE DATA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7200" y="3822191"/>
          <a:ext cx="11274552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377440"/>
                <a:gridCol w="5788152"/>
              </a:tblGrid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Meaning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Reports processed end to end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150 written for the prototype + 30 real OSHA narratives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Human labels collected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every report reviewed by two people against one rubric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Reviewer agreement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97%  (kappa 0.947)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on a 38-report sample reviewed independently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457200" y="5596128"/>
            <a:ext cx="11274552" cy="65836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779008"/>
            <a:ext cx="112745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Arial"/>
              </a:rPr>
              <a:t>Safety Reports  →  SIF Precursors  →  Risk Prioritization  →  Early Action  →  Safer Operations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" y="182880"/>
            <a:ext cx="1298448" cy="6035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Arial"/>
              </a:rPr>
              <a:t>Signal-0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83080" y="128016"/>
            <a:ext cx="8229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100" b="1">
                <a:solidFill>
                  <a:srgbClr val="000000"/>
                </a:solidFill>
                <a:latin typeface="Times New Roman"/>
              </a:rPr>
              <a:t>RESEARCH  AND REFERENCES</a:t>
            </a:r>
          </a:p>
        </p:txBody>
      </p:sp>
      <p:pic>
        <p:nvPicPr>
          <p:cNvPr id="4" name="Picture 3" descr="sih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146304"/>
            <a:ext cx="1549279" cy="7315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73952"/>
            <a:ext cx="12191695" cy="384047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537960"/>
            <a:ext cx="121916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1575" y="6537960"/>
            <a:ext cx="594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11274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  <a:latin typeface="Arial"/>
              </a:rPr>
              <a:t>Research: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IOGP Life-Saving Rules  •  DEKRA SIF Framework  •  EEI SIF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27632"/>
            <a:ext cx="11274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  <a:latin typeface="Arial"/>
              </a:rPr>
              <a:t>Data: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150 synthetic safety reports  +  30 OSHA severe-injury reports  ·  173 human labels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86000"/>
            <a:ext cx="11274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4E79"/>
                </a:solidFill>
                <a:latin typeface="Arial"/>
              </a:rPr>
              <a:t>Prototype Evaluation: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2633472"/>
          <a:ext cx="11274552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651760"/>
                <a:gridCol w="5056632"/>
              </a:tblGrid>
              <a:tr h="42062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Measure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How it was measured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Human agreement ceiling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97%  ·  kappa 0.947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two reviewers, working separately, n=38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TF-IDF baseline (F1)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0.754  ± 0.077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5-fold cross-validation, n=114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LLM classifier (F1)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being re-measured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previous figure withdrawn — see note below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57200" y="4370832"/>
            <a:ext cx="11274552" cy="658368"/>
          </a:xfrm>
          <a:prstGeom prst="rect">
            <a:avLst/>
          </a:prstGeom>
          <a:solidFill>
            <a:srgbClr val="FDF2EF"/>
          </a:solidFill>
          <a:ln w="12700">
            <a:solidFill>
              <a:srgbClr val="E5C3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480560"/>
            <a:ext cx="1069848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B43A2E"/>
                </a:solidFill>
                <a:latin typeface="Arial"/>
              </a:rPr>
              <a:t>Why the LLM figure is withdrawn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We found one of our held-out test reports written into the AI prompt, so the old score was not a fair test. We pulled the number rather than ship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30368"/>
            <a:ext cx="11274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1F4E79"/>
                </a:solidFill>
                <a:latin typeface="Arial"/>
              </a:rPr>
              <a:t>What the ceiling means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Two people applying the same rubric to the same reports agreed 97% of the time. No classifier scored against those labels can honestly claim to be more consistent than the people who made them.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943600"/>
            <a:ext cx="11274552" cy="384048"/>
          </a:xfrm>
          <a:prstGeom prst="rect">
            <a:avLst/>
          </a:prstGeom>
          <a:solidFill>
            <a:srgbClr val="E8F1F8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016752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4E79"/>
                </a:solidFill>
                <a:latin typeface="Arial"/>
              </a:rPr>
              <a:t>Live prototype:  https://sanket-frontend.onrender.com        GitHub:  SANKET — AI-powered SIF precursor detection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