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87782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3600" b="1" i="0">
                <a:solidFill>
                  <a:srgbClr val="1F3864"/>
                </a:solidFill>
                <a:latin typeface="Times New Roman"/>
              </a:rPr>
              <a:t>SMART INDIA HACKATHON 2026</a:t>
            </a:r>
          </a:p>
          <a:p>
            <a:pPr algn="ctr">
              <a:spcAft>
                <a:spcPts val="0"/>
              </a:spcAft>
            </a:pPr>
            <a:r>
              <a:rPr sz="3000" b="1" i="0">
                <a:solidFill>
                  <a:srgbClr val="1F3864"/>
                </a:solidFill>
                <a:latin typeface="Times New Roman"/>
              </a:rPr>
              <a:t>TITLE PAGE</a:t>
            </a:r>
          </a:p>
        </p:txBody>
      </p:sp>
      <p:pic>
        <p:nvPicPr>
          <p:cNvPr id="3" name="Picture 2" descr="sih-2026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274320"/>
            <a:ext cx="2227089" cy="1051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" y="1965960"/>
            <a:ext cx="786384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 i="0">
                <a:solidFill>
                  <a:srgbClr val="1A1A1A"/>
                </a:solidFill>
                <a:latin typeface="Calibri"/>
              </a:rPr>
              <a:t>Problem Statement ID –  SIH26165</a:t>
            </a:r>
          </a:p>
          <a:p>
            <a:pPr algn="l">
              <a:spcAft>
                <a:spcPts val="1200"/>
              </a:spcAft>
            </a:pPr>
            <a:r>
              <a:rPr sz="1600" b="1" i="0">
                <a:solidFill>
                  <a:srgbClr val="1A1A1A"/>
                </a:solidFill>
                <a:latin typeface="Calibri"/>
              </a:rPr>
              <a:t>Problem Statement Title –  AI/NLP Engine to Detect Serious Injury &amp; Fatality (SIF) Precursors in OIL's Unsafe-Act/Unsafe-Condition and Near-Miss Reports</a:t>
            </a:r>
          </a:p>
          <a:p>
            <a:pPr algn="l">
              <a:spcAft>
                <a:spcPts val="1200"/>
              </a:spcAft>
            </a:pPr>
            <a:r>
              <a:rPr sz="1600" b="1" i="0">
                <a:solidFill>
                  <a:srgbClr val="1A1A1A"/>
                </a:solidFill>
                <a:latin typeface="Calibri"/>
              </a:rPr>
              <a:t>Theme –  Smart Automation</a:t>
            </a:r>
          </a:p>
          <a:p>
            <a:pPr algn="l">
              <a:spcAft>
                <a:spcPts val="1200"/>
              </a:spcAft>
            </a:pPr>
            <a:r>
              <a:rPr sz="1600" b="1" i="0">
                <a:solidFill>
                  <a:srgbClr val="1A1A1A"/>
                </a:solidFill>
                <a:latin typeface="Calibri"/>
              </a:rPr>
              <a:t>PS Category –  Software</a:t>
            </a:r>
          </a:p>
          <a:p>
            <a:pPr algn="l">
              <a:spcAft>
                <a:spcPts val="1200"/>
              </a:spcAft>
            </a:pPr>
            <a:r>
              <a:rPr sz="1600" b="1" i="0">
                <a:solidFill>
                  <a:srgbClr val="1A1A1A"/>
                </a:solidFill>
                <a:latin typeface="Calibri"/>
              </a:rPr>
              <a:t>Team ID –  ____</a:t>
            </a:r>
          </a:p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A1A1A"/>
                </a:solidFill>
                <a:latin typeface="Calibri"/>
              </a:rPr>
              <a:t>Team Name –  Signal-0</a:t>
            </a:r>
          </a:p>
        </p:txBody>
      </p:sp>
      <p:sp>
        <p:nvSpPr>
          <p:cNvPr id="5" name="Rectangle 4"/>
          <p:cNvSpPr/>
          <p:nvPr/>
        </p:nvSpPr>
        <p:spPr>
          <a:xfrm>
            <a:off x="8869680" y="1965960"/>
            <a:ext cx="2834640" cy="1600200"/>
          </a:xfrm>
          <a:prstGeom prst="rect">
            <a:avLst/>
          </a:prstGeom>
          <a:solidFill>
            <a:srgbClr val="F4F7FA"/>
          </a:solidFill>
          <a:ln w="12700">
            <a:solidFill>
              <a:srgbClr val="D5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869680" y="1965960"/>
            <a:ext cx="2834640" cy="4572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98280" y="2286000"/>
            <a:ext cx="23774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3000" b="1" i="0">
                <a:solidFill>
                  <a:srgbClr val="1F3864"/>
                </a:solidFill>
                <a:latin typeface="Times New Roman"/>
              </a:rPr>
              <a:t>SANKET</a:t>
            </a:r>
          </a:p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595959"/>
                </a:solidFill>
                <a:latin typeface="Calibri"/>
              </a:rPr>
              <a:t>SIF Precursor Detection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956048"/>
            <a:ext cx="10927080" cy="1115568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5157216"/>
            <a:ext cx="101955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Reads a free-text safety report and answers one question: could this have killed someone?</a:t>
            </a:r>
          </a:p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CFE4F5"/>
                </a:solidFill>
                <a:latin typeface="Calibri"/>
              </a:rPr>
              <a:t>Three gates  ·  hazard, control status, plausible severity  ·  tagged to the IOGP Life-Saving Rules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56032" y="201168"/>
            <a:ext cx="1371600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5E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Calibri"/>
              </a:rPr>
              <a:t>Signal-0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83080" y="182880"/>
            <a:ext cx="8229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300" b="1" i="0">
                <a:solidFill>
                  <a:srgbClr val="1F3864"/>
                </a:solidFill>
                <a:latin typeface="Times New Roman"/>
              </a:rPr>
              <a:t>SANKET — FROM INCIDENT NARRATIVES TO EARLY SAFETY WARNINGS</a:t>
            </a:r>
          </a:p>
        </p:txBody>
      </p:sp>
      <p:pic>
        <p:nvPicPr>
          <p:cNvPr id="4" name="Picture 3" descr="sih-2026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164592"/>
            <a:ext cx="1781671" cy="84124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6528816"/>
            <a:ext cx="121916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528816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07008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F3864"/>
                </a:solidFill>
                <a:latin typeface="Calibri"/>
              </a:rPr>
              <a:t>SANKET analyzes safety and near-miss reports using AI to detect potential Serious Injury &amp; Fatality (SIF) precursors.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810512"/>
            <a:ext cx="5440680" cy="2286000"/>
          </a:xfrm>
          <a:prstGeom prst="rect">
            <a:avLst/>
          </a:prstGeom>
          <a:solidFill>
            <a:srgbClr val="F4F7FA"/>
          </a:solidFill>
          <a:ln w="12700">
            <a:solidFill>
              <a:srgbClr val="D5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810512"/>
            <a:ext cx="5440680" cy="41148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029967"/>
            <a:ext cx="4892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0070C0"/>
                </a:solidFill>
                <a:latin typeface="Calibri"/>
              </a:rPr>
              <a:t>IDENTIFIES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30428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 Hazard &amp; Life-Saving Rule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 Control status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 Severity (1–5)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 SIF Precursor: Yes / No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 Evidence &amp; reasoning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45352" y="1810512"/>
            <a:ext cx="5440680" cy="2286000"/>
          </a:xfrm>
          <a:prstGeom prst="rect">
            <a:avLst/>
          </a:prstGeom>
          <a:solidFill>
            <a:srgbClr val="F4F7FA"/>
          </a:solidFill>
          <a:ln w="12700">
            <a:solidFill>
              <a:srgbClr val="D5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45352" y="1810512"/>
            <a:ext cx="5440680" cy="41148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9672" y="2029967"/>
            <a:ext cx="4892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0070C0"/>
                </a:solidFill>
                <a:latin typeface="Calibri"/>
              </a:rPr>
              <a:t>INNOVATION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47104" y="230428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 LLM + ML hybrid approach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 Explainable risk assessment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 One-Change severity rule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 Prioritized safety-review queue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315968"/>
            <a:ext cx="11183112" cy="1874519"/>
          </a:xfrm>
          <a:prstGeom prst="rect">
            <a:avLst/>
          </a:prstGeom>
          <a:solidFill>
            <a:srgbClr val="FFFFFF"/>
          </a:solidFill>
          <a:ln w="12700">
            <a:solidFill>
              <a:srgbClr val="D5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4517136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0070C0"/>
                </a:solidFill>
                <a:latin typeface="Calibri"/>
              </a:rPr>
              <a:t>THE DECISION, MADE VISIBLE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672" y="4956048"/>
            <a:ext cx="3246120" cy="1024128"/>
          </a:xfrm>
          <a:prstGeom prst="rect">
            <a:avLst/>
          </a:prstGeom>
          <a:solidFill>
            <a:srgbClr val="F4F7FA"/>
          </a:solidFill>
          <a:ln w="12700">
            <a:solidFill>
              <a:srgbClr val="D5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" y="5120640"/>
            <a:ext cx="28346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0070C0"/>
                </a:solidFill>
                <a:latin typeface="Calibri"/>
              </a:rPr>
              <a:t>GATE 1</a:t>
            </a:r>
          </a:p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A1A1A"/>
                </a:solidFill>
                <a:latin typeface="Calibri"/>
              </a:rPr>
              <a:t>Hazard present?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Calibri"/>
              </a:rPr>
              <a:t>yes / no / insufficient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78224" y="5321808"/>
            <a:ext cx="31089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0070C0"/>
                </a:solidFill>
                <a:latin typeface="Calibri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16552" y="4956048"/>
            <a:ext cx="3246120" cy="1024128"/>
          </a:xfrm>
          <a:prstGeom prst="rect">
            <a:avLst/>
          </a:prstGeom>
          <a:solidFill>
            <a:srgbClr val="F4F7FA"/>
          </a:solidFill>
          <a:ln w="12700">
            <a:solidFill>
              <a:srgbClr val="D5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36008" y="5120640"/>
            <a:ext cx="28346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0070C0"/>
                </a:solidFill>
                <a:latin typeface="Calibri"/>
              </a:rPr>
              <a:t>GATE 2</a:t>
            </a:r>
          </a:p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A1A1A"/>
                </a:solidFill>
                <a:latin typeface="Calibri"/>
              </a:rPr>
              <a:t>Was a control doing its job?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Calibri"/>
              </a:rPr>
              <a:t>absent / failed / present / unclear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90104" y="5321808"/>
            <a:ext cx="31089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0070C0"/>
                </a:solidFill>
                <a:latin typeface="Calibri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28432" y="4956048"/>
            <a:ext cx="3246120" cy="1024128"/>
          </a:xfrm>
          <a:prstGeom prst="rect">
            <a:avLst/>
          </a:prstGeom>
          <a:solidFill>
            <a:srgbClr val="F4F7FA"/>
          </a:solidFill>
          <a:ln w="12700">
            <a:solidFill>
              <a:srgbClr val="D5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47888" y="5120640"/>
            <a:ext cx="28346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0070C0"/>
                </a:solidFill>
                <a:latin typeface="Calibri"/>
              </a:rPr>
              <a:t>GATE 3</a:t>
            </a:r>
          </a:p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A1A1A"/>
                </a:solidFill>
                <a:latin typeface="Calibri"/>
              </a:rPr>
              <a:t>Plausible worst case?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Calibri"/>
              </a:rPr>
              <a:t>severity 1–5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56032" y="201168"/>
            <a:ext cx="1371600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5E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Calibri"/>
              </a:rPr>
              <a:t>Signal-0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83080" y="182880"/>
            <a:ext cx="8229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300" b="1" i="0">
                <a:solidFill>
                  <a:srgbClr val="1F3864"/>
                </a:solidFill>
                <a:latin typeface="Times New Roman"/>
              </a:rPr>
              <a:t>TECHNICAL APPROACH</a:t>
            </a:r>
          </a:p>
        </p:txBody>
      </p:sp>
      <p:pic>
        <p:nvPicPr>
          <p:cNvPr id="4" name="Picture 3" descr="sih-2026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164592"/>
            <a:ext cx="1781671" cy="84124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6528816"/>
            <a:ext cx="121916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528816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98448"/>
            <a:ext cx="3429000" cy="3246120"/>
          </a:xfrm>
          <a:prstGeom prst="rect">
            <a:avLst/>
          </a:prstGeom>
          <a:solidFill>
            <a:srgbClr val="F4F7FA"/>
          </a:solidFill>
          <a:ln w="12700">
            <a:solidFill>
              <a:srgbClr val="D5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298448"/>
            <a:ext cx="3429000" cy="41148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517904"/>
            <a:ext cx="2880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0070C0"/>
                </a:solidFill>
                <a:latin typeface="Calibri"/>
              </a:rPr>
              <a:t>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1810512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 React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 FastAPI · Python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 Groq · GPT-OSS-20B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 TF-IDF + Logistic Regression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 Supabase (Postgres)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041648"/>
            <a:ext cx="29260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1">
                <a:solidFill>
                  <a:srgbClr val="595959"/>
                </a:solidFill>
                <a:latin typeface="Calibri"/>
              </a:rPr>
              <a:t>SQLite is the on-instance classification cache only.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24528" y="1298448"/>
            <a:ext cx="3703320" cy="3246120"/>
          </a:xfrm>
          <a:prstGeom prst="rect">
            <a:avLst/>
          </a:prstGeom>
          <a:solidFill>
            <a:srgbClr val="F4F7FA"/>
          </a:solidFill>
          <a:ln w="12700">
            <a:solidFill>
              <a:srgbClr val="D5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24528" y="1298448"/>
            <a:ext cx="3703320" cy="41148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98848" y="1517904"/>
            <a:ext cx="31546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0070C0"/>
                </a:solidFill>
                <a:latin typeface="Calibri"/>
              </a:rPr>
              <a:t>FLOW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3712" y="181051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070C0"/>
                </a:solidFill>
                <a:latin typeface="Calibri"/>
              </a:rPr>
              <a:t>1.  Report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3712" y="2144268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Calibri"/>
              </a:rPr>
              <a:t>2.  AI / NLP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53712" y="2478024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Calibri"/>
              </a:rPr>
              <a:t>3.  Hazard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3712" y="28117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Calibri"/>
              </a:rPr>
              <a:t>4.  Life-Saving Rule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53712" y="314553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Calibri"/>
              </a:rPr>
              <a:t>5.  Control status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3712" y="3479291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Calibri"/>
              </a:rPr>
              <a:t>6.  Severity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53712" y="3813048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Calibri"/>
              </a:rPr>
              <a:t>7.  SIF Decision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53712" y="4146804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070C0"/>
                </a:solidFill>
                <a:latin typeface="Calibri"/>
              </a:rPr>
              <a:t>8.  Risk Priority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0456" y="1298448"/>
            <a:ext cx="3465576" cy="3246120"/>
          </a:xfrm>
          <a:prstGeom prst="rect">
            <a:avLst/>
          </a:prstGeom>
          <a:solidFill>
            <a:srgbClr val="F4F7FA"/>
          </a:solidFill>
          <a:ln w="12700">
            <a:solidFill>
              <a:srgbClr val="D5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220456" y="1298448"/>
            <a:ext cx="3465576" cy="41148"/>
          </a:xfrm>
          <a:prstGeom prst="rect">
            <a:avLst/>
          </a:prstGeom>
          <a:solidFill>
            <a:srgbClr val="B4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94776" y="1517904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B43A2E"/>
                </a:solidFill>
                <a:latin typeface="Calibri"/>
              </a:rPr>
              <a:t>SIF RULE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22208" y="1847088"/>
            <a:ext cx="29260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Hazard = YES</a:t>
            </a:r>
          </a:p>
          <a:p>
            <a:pPr algn="l">
              <a:spcAft>
                <a:spcPts val="70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+   Control = Absent / Failed</a:t>
            </a:r>
          </a:p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+   Severity ≥ 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522208" y="3200400"/>
            <a:ext cx="2880360" cy="438912"/>
          </a:xfrm>
          <a:prstGeom prst="rect">
            <a:avLst/>
          </a:prstGeom>
          <a:solidFill>
            <a:srgbClr val="B4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22208" y="3291840"/>
            <a:ext cx="288036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→   SIF PRECURSOR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22208" y="3803904"/>
            <a:ext cx="2880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Computed from the gates, never typed. A database CHECK constraint enforces it, so no model can emit a contradicting row.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4791456"/>
            <a:ext cx="11183112" cy="1298448"/>
          </a:xfrm>
          <a:prstGeom prst="rect">
            <a:avLst/>
          </a:prstGeom>
          <a:solidFill>
            <a:srgbClr val="F4F7FA"/>
          </a:solidFill>
          <a:ln w="12700">
            <a:solidFill>
              <a:srgbClr val="D5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4992624"/>
            <a:ext cx="105613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0070C0"/>
                </a:solidFill>
                <a:latin typeface="Calibri"/>
              </a:rPr>
              <a:t>DESIGNED TO DEGRADE, NOT TO FAIL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Every call runs under a hard deadline. A rate-limited request retries inside that deadline, then a locally trained TF-IDF model answers instead — and the response says so. The API reports which classifier actually served it, so a degraded answer is visible rather than silent.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56032" y="201168"/>
            <a:ext cx="1371600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5E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Calibri"/>
              </a:rPr>
              <a:t>Signal-0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83080" y="182880"/>
            <a:ext cx="8229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300" b="1" i="0">
                <a:solidFill>
                  <a:srgbClr val="1F3864"/>
                </a:solidFill>
                <a:latin typeface="Times New Roman"/>
              </a:rPr>
              <a:t>FEASIBILITY AND VIABILITY</a:t>
            </a:r>
          </a:p>
        </p:txBody>
      </p:sp>
      <p:pic>
        <p:nvPicPr>
          <p:cNvPr id="4" name="Picture 3" descr="sih-2026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164592"/>
            <a:ext cx="1781671" cy="84124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6528816"/>
            <a:ext cx="121916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528816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98448"/>
            <a:ext cx="5440680" cy="2926080"/>
          </a:xfrm>
          <a:prstGeom prst="rect">
            <a:avLst/>
          </a:prstGeom>
          <a:solidFill>
            <a:srgbClr val="F4F7FA"/>
          </a:solidFill>
          <a:ln w="12700">
            <a:solidFill>
              <a:srgbClr val="D5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298448"/>
            <a:ext cx="5440680" cy="41148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517904"/>
            <a:ext cx="4892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0070C0"/>
                </a:solidFill>
                <a:latin typeface="Calibri"/>
              </a:rPr>
              <a:t>FEASIBLE BECAUSE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1810512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1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 Uses existing incident reports</a:t>
            </a:r>
          </a:p>
          <a:p>
            <a:pPr algn="l">
              <a:spcAft>
                <a:spcPts val="11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 No specialized hardware</a:t>
            </a:r>
          </a:p>
          <a:p>
            <a:pPr algn="l">
              <a:spcAft>
                <a:spcPts val="11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 API-based &amp; scalable</a:t>
            </a:r>
          </a:p>
          <a:p>
            <a:pPr algn="l">
              <a:spcAft>
                <a:spcPts val="11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 LLM + local fallback</a:t>
            </a:r>
          </a:p>
          <a:p>
            <a:pPr algn="l">
              <a:spcAft>
                <a:spcPts val="11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 Human-in-the-loop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45352" y="1298448"/>
            <a:ext cx="5440680" cy="2926080"/>
          </a:xfrm>
          <a:prstGeom prst="rect">
            <a:avLst/>
          </a:prstGeom>
          <a:solidFill>
            <a:srgbClr val="F4F7FA"/>
          </a:solidFill>
          <a:ln w="12700">
            <a:solidFill>
              <a:srgbClr val="D5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5352" y="1298448"/>
            <a:ext cx="5440680" cy="41148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9672" y="1517904"/>
            <a:ext cx="4892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0070C0"/>
                </a:solidFill>
                <a:latin typeface="Calibri"/>
              </a:rPr>
              <a:t>CHALLENGES → SOLUTIONS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10512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1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 Unstructured text → LLM analysis</a:t>
            </a:r>
          </a:p>
          <a:p>
            <a:pPr algn="l">
              <a:spcAft>
                <a:spcPts val="11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 Ambiguous controls → 4-state classification</a:t>
            </a:r>
          </a:p>
          <a:p>
            <a:pPr algn="l">
              <a:spcAft>
                <a:spcPts val="11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 API failure → retry inside a deadline, then fallback</a:t>
            </a:r>
          </a:p>
          <a:p>
            <a:pPr algn="l">
              <a:spcAft>
                <a:spcPts val="11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 Domain variation → tested on 30 real OSHA narratives (F1 0.118)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4462272"/>
            <a:ext cx="11183112" cy="1627632"/>
          </a:xfrm>
          <a:prstGeom prst="rect">
            <a:avLst/>
          </a:prstGeom>
          <a:solidFill>
            <a:srgbClr val="FDF3F1"/>
          </a:solidFill>
          <a:ln w="12700">
            <a:solidFill>
              <a:srgbClr val="E8C9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4663440"/>
            <a:ext cx="105613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B43A2E"/>
                </a:solidFill>
                <a:latin typeface="Calibri"/>
              </a:rPr>
              <a:t>THE CONSTRAINT WE ACTUALLY HIT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Not compute — tokens. The free tier caps us near 63 reports a day, so a full re-classification takes days, not minutes. Everything downstream is built around that: the classifier is resumable, refuses to store a fallback answer as though it were real, and the dashboard keeps reporting on the last model version that covers the corpus instead of going blank mid-migration.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56032" y="201168"/>
            <a:ext cx="1371600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5E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Calibri"/>
              </a:rPr>
              <a:t>Signal-0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83080" y="182880"/>
            <a:ext cx="8229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300" b="1" i="0">
                <a:solidFill>
                  <a:srgbClr val="1F3864"/>
                </a:solidFill>
                <a:latin typeface="Times New Roman"/>
              </a:rPr>
              <a:t>IMPACT AND BENEFITS</a:t>
            </a:r>
          </a:p>
        </p:txBody>
      </p:sp>
      <p:pic>
        <p:nvPicPr>
          <p:cNvPr id="4" name="Picture 3" descr="sih-2026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164592"/>
            <a:ext cx="1781671" cy="84124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6528816"/>
            <a:ext cx="121916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528816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98448"/>
            <a:ext cx="5440680" cy="2743200"/>
          </a:xfrm>
          <a:prstGeom prst="rect">
            <a:avLst/>
          </a:prstGeom>
          <a:solidFill>
            <a:srgbClr val="F4F7FA"/>
          </a:solidFill>
          <a:ln w="12700">
            <a:solidFill>
              <a:srgbClr val="D5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298448"/>
            <a:ext cx="5440680" cy="41148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517904"/>
            <a:ext cx="4892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0070C0"/>
                </a:solidFill>
                <a:latin typeface="Calibri"/>
              </a:rPr>
              <a:t>POTENTIAL IMPACT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1810512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 Early detection of SIF precursors in OIL safety reports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 Prioritized review of high-risk incidents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 Ranks sites by precursor RATE, not count — so a site is not punished for reporting diligently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45352" y="1298448"/>
            <a:ext cx="5440680" cy="2743200"/>
          </a:xfrm>
          <a:prstGeom prst="rect">
            <a:avLst/>
          </a:prstGeom>
          <a:solidFill>
            <a:srgbClr val="F4F7FA"/>
          </a:solidFill>
          <a:ln w="12700">
            <a:solidFill>
              <a:srgbClr val="D5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5352" y="1298448"/>
            <a:ext cx="5440680" cy="41148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9672" y="1517904"/>
            <a:ext cx="4892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0070C0"/>
                </a:solidFill>
                <a:latin typeface="Calibri"/>
              </a:rPr>
              <a:t>BENEFITS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10512"/>
            <a:ext cx="489204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 Safety: proactive intervention before serious incidents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 Operational: removes the manual first-pass screen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 Economic: prevents costly injuries, incidents and downtime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 Scalable: ten reports or ten thousand, same pipeline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4279392"/>
            <a:ext cx="11183112" cy="82296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4462272"/>
            <a:ext cx="111831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Safety Reports  →  SIF Precursors  →  Risk Prioritization  →  Early Action  →  Safer Operations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340096"/>
            <a:ext cx="1118311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1">
                <a:solidFill>
                  <a:srgbClr val="595959"/>
                </a:solidFill>
                <a:latin typeface="Calibri"/>
              </a:rPr>
              <a:t>It never closes a report. It reorders the queue a human already reads, and puts the ones with fatal potential at the top.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56032" y="201168"/>
            <a:ext cx="1371600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5E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Calibri"/>
              </a:rPr>
              <a:t>Signal-0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83080" y="182880"/>
            <a:ext cx="8229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300" b="1" i="0">
                <a:solidFill>
                  <a:srgbClr val="1F3864"/>
                </a:solidFill>
                <a:latin typeface="Times New Roman"/>
              </a:rPr>
              <a:t>RESEARCH AND REFERENCES</a:t>
            </a:r>
          </a:p>
        </p:txBody>
      </p:sp>
      <p:pic>
        <p:nvPicPr>
          <p:cNvPr id="4" name="Picture 3" descr="sih-2026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164592"/>
            <a:ext cx="1781671" cy="84124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6528816"/>
            <a:ext cx="121916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528816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34440"/>
            <a:ext cx="1118311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0070C0"/>
                </a:solidFill>
                <a:latin typeface="Calibri"/>
              </a:rPr>
              <a:t>Research:</a:t>
            </a:r>
          </a:p>
          <a:p>
            <a:pPr algn="l">
              <a:spcAft>
                <a:spcPts val="9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IOGP Life-Saving Rules  ·  DEKRA SIF Framework  ·  EEI SIF Model</a:t>
            </a:r>
          </a:p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0070C0"/>
                </a:solidFill>
                <a:latin typeface="Calibri"/>
              </a:rPr>
              <a:t>Data:</a:t>
            </a:r>
          </a:p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150 synthetic reports  +  30 real OSHA severe-injury narratives  ·  173 gold labels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670048"/>
            <a:ext cx="1118311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070C0"/>
                </a:solidFill>
                <a:latin typeface="Calibri"/>
              </a:rPr>
              <a:t>PROTOTYPE EVALUATION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054096"/>
            <a:ext cx="3566160" cy="1517904"/>
          </a:xfrm>
          <a:prstGeom prst="rect">
            <a:avLst/>
          </a:prstGeom>
          <a:solidFill>
            <a:srgbClr val="FFFFFF"/>
          </a:solidFill>
          <a:ln w="12700">
            <a:solidFill>
              <a:srgbClr val="D5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3054096"/>
            <a:ext cx="3566160" cy="45720"/>
          </a:xfrm>
          <a:prstGeom prst="rect">
            <a:avLst/>
          </a:prstGeom>
          <a:solidFill>
            <a:srgbClr val="1E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3236976"/>
            <a:ext cx="3063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E7A5E"/>
                </a:solidFill>
                <a:latin typeface="Calibri"/>
              </a:rPr>
              <a:t>HUMAN CEILING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" y="3511296"/>
            <a:ext cx="30632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Calibri"/>
              </a:rPr>
              <a:t>0.947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84248" y="36576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95959"/>
                </a:solidFill>
                <a:latin typeface="Calibri"/>
              </a:rPr>
              <a:t>Cohen's kappa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" y="4059936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97.4% agreement · two annotators, independently · n=38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70248" y="3054096"/>
            <a:ext cx="3566160" cy="1517904"/>
          </a:xfrm>
          <a:prstGeom prst="rect">
            <a:avLst/>
          </a:prstGeom>
          <a:solidFill>
            <a:srgbClr val="FFFFFF"/>
          </a:solidFill>
          <a:ln w="12700">
            <a:solidFill>
              <a:srgbClr val="D5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70248" y="3054096"/>
            <a:ext cx="3566160" cy="4572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6280" y="3236976"/>
            <a:ext cx="3063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0070C0"/>
                </a:solidFill>
                <a:latin typeface="Calibri"/>
              </a:rPr>
              <a:t>TF-IDF BASELINE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6280" y="3511296"/>
            <a:ext cx="30632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Calibri"/>
              </a:rPr>
              <a:t>0.754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51576" y="36576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95959"/>
                </a:solidFill>
                <a:latin typeface="Calibri"/>
              </a:rPr>
              <a:t>F1  ± 0.077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4059936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5-fold cross-validated · PR-AUC 0.847 · n=114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37576" y="3054096"/>
            <a:ext cx="3566160" cy="1517904"/>
          </a:xfrm>
          <a:prstGeom prst="rect">
            <a:avLst/>
          </a:prstGeom>
          <a:solidFill>
            <a:srgbClr val="FFFFFF"/>
          </a:solidFill>
          <a:ln w="12700">
            <a:solidFill>
              <a:srgbClr val="D5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37576" y="3054096"/>
            <a:ext cx="3566160" cy="4572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93608" y="3236976"/>
            <a:ext cx="3063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595959"/>
                </a:solidFill>
                <a:latin typeface="Calibri"/>
              </a:rPr>
              <a:t>OSHA GENERALISATION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93608" y="3511296"/>
            <a:ext cx="30632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Calibri"/>
              </a:rPr>
              <a:t>0.118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18904" y="36576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95959"/>
                </a:solidFill>
                <a:latin typeface="Calibri"/>
              </a:rPr>
              <a:t>F1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93608" y="4059936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real narratives nobody on the team wrote · n=30, too small to conclude from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4718304"/>
            <a:ext cx="11183112" cy="566928"/>
          </a:xfrm>
          <a:prstGeom prst="rect">
            <a:avLst/>
          </a:prstGeom>
          <a:solidFill>
            <a:srgbClr val="FDF3F1"/>
          </a:solidFill>
          <a:ln w="12700">
            <a:solidFill>
              <a:srgbClr val="E8C9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484632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B43A2E"/>
                </a:solidFill>
                <a:latin typeface="Calibri"/>
              </a:rPr>
              <a:t>LLM figure withdrawn, deliberately — we found a held-out report inside our own prompt and pulled the number rather than ship it. Re-measurement in progress.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5431536"/>
            <a:ext cx="111831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 i="0">
                <a:solidFill>
                  <a:srgbClr val="595959"/>
                </a:solidFill>
                <a:latin typeface="Calibri"/>
              </a:rPr>
              <a:t>STATED UP FRONT, BECAUSE A JUDGE WILL FIND THEM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95959"/>
                </a:solidFill>
                <a:latin typeface="Calibri"/>
              </a:rPr>
              <a:t>Our precursor rate is 58.7%, not the 20–25% the problem statement cites — our generator centred every synthetic report on a hazard. The ceiling is a 38-report re-label, so we quote the subset. We report no accuracy figure, and never a baseline scored on its own training data.</a:t>
            </a:r>
          </a:p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GitHub:  SANKET — AI-powered SIF precursor detection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