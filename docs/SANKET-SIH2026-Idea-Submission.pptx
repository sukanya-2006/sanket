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052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700" b="1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Times New Roman"/>
              </a:rPr>
              <a:t>TITLE PAGE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56032"/>
            <a:ext cx="2091527" cy="987552"/>
          </a:xfrm>
          <a:prstGeom prst="rect">
            <a:avLst/>
          </a:prstGeom>
        </p:spPr>
      </p:pic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07808" y="1700784"/>
            <a:ext cx="3439208" cy="3822191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38" name="Picture 37" descr="sih-title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155" y="2341765"/>
            <a:ext cx="2375117" cy="269930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77240" y="1965960"/>
            <a:ext cx="6629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•  Problem Statement ID -  SIH26165</a:t>
            </a:r>
          </a:p>
          <a:p>
            <a:pPr algn="l">
              <a:spcAft>
                <a:spcPts val="1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•  Problem Statement Title -  AI/NLP Engine to Detect Serious Injury &amp; Fatality (SIF) Precursors in OIL's Unsafe-Act/Unsafe-Condition and Near-Miss Reports</a:t>
            </a:r>
          </a:p>
          <a:p>
            <a:pPr algn="l">
              <a:spcAft>
                <a:spcPts val="1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•  Theme -  Smart Automation</a:t>
            </a:r>
          </a:p>
          <a:p>
            <a:pPr algn="l">
              <a:spcAft>
                <a:spcPts val="1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•  PS Category -  Software</a:t>
            </a:r>
          </a:p>
          <a:p>
            <a:pPr algn="l">
              <a:spcAft>
                <a:spcPts val="1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•  Team ID -  ____</a:t>
            </a:r>
          </a:p>
          <a:p>
            <a:pPr algn="l">
              <a:spcAft>
                <a:spcPts val="1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•  Team Name -  Signal-0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797296"/>
            <a:ext cx="10149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F4E79"/>
                </a:solidFill>
                <a:latin typeface="Arial"/>
              </a:rPr>
              <a:t>Working prototype:   https://sanket-frontend.onrender.com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000000"/>
                </a:solidFill>
                <a:latin typeface="Times New Roman"/>
              </a:rPr>
              <a:t>SANKET — From Incident Narratives to Early Safety Warnings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11091672" cy="65836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1615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F4E79"/>
                </a:solidFill>
                <a:latin typeface="Arial"/>
              </a:rPr>
              <a:t>SANKET analyzes safety / near-miss reports using AI to detect potential Serious Injury &amp; Fatality (SIF) precursors.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01952"/>
            <a:ext cx="5486400" cy="228600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01952"/>
            <a:ext cx="5486400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0253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Identifies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Hazard &amp; Life-Saving Rule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Control status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Severity (1–5)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SIF Precursor: Yes / No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Evidence &amp; reasoning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901952"/>
            <a:ext cx="5486400" cy="228600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901952"/>
            <a:ext cx="548640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200253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Innovation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LLM + ML hybrid approach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Explainable risk assessment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One-Change severity rule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Arial"/>
              </a:rPr>
              <a:t>●  Prioritized safety-review 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70832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HOW A REPORT IS JUDGED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4700016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  <a:gridCol w="5056632"/>
              </a:tblGrid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Question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Possible answers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  Hazard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 a high-energy hazard present?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yes  ·  no  ·  insufficient information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2  Control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Was a safety barrier doing its job?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absent  ·  failed  ·  present  ·  unclear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  Severity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How bad could it realistically have been?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  to  5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806440" cy="379476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24128"/>
            <a:ext cx="5806440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5806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Tech Stack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" y="1664208"/>
          <a:ext cx="539496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194560"/>
                <a:gridCol w="1828800"/>
              </a:tblGrid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React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worker + admin screens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Backend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FastAPI (Python)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REST API, validation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AI model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Groq GPT-OSS-20B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reads the report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Fallback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TF-IDF + LogReg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answers if AI is down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Database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Supabase (PostgreSQL)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reports + predictions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SQLite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on-instance, repeat calls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0" y="1024128"/>
            <a:ext cx="2606040" cy="379476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024128"/>
            <a:ext cx="260604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124712"/>
            <a:ext cx="2606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1968" y="1664208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1664208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Report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1968" y="2048256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048256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AI / NLP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1968" y="2432304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2432304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Hazard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1968" y="2816352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2816352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LSR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01968" y="3200400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1968" y="3200400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1968" y="3584448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3584448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Severity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1968" y="3968496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3968496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SIF Decision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4352544"/>
            <a:ext cx="2194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4352544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Risk Priority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1920240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2304288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2688336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01968" y="3072384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3456432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3840480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224528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E7A5E"/>
                </a:solidFill>
                <a:latin typeface="Arial"/>
              </a:rPr>
              <a:t>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1024128"/>
            <a:ext cx="2587752" cy="3794760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1024128"/>
            <a:ext cx="2587752" cy="475488"/>
          </a:xfrm>
          <a:prstGeom prst="rect">
            <a:avLst/>
          </a:prstGeom>
          <a:solidFill>
            <a:srgbClr val="5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1124712"/>
            <a:ext cx="25877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SIF Rule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345168" y="1737360"/>
            <a:ext cx="21854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36608" y="1874519"/>
            <a:ext cx="2002536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Hazard = YES</a:t>
            </a:r>
          </a:p>
          <a:p>
            <a:pPr algn="ctr">
              <a:spcAft>
                <a:spcPts val="70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+  Control =</a:t>
            </a:r>
            <a:br/>
            <a:r>
              <a:rPr sz="1300" b="1">
                <a:solidFill>
                  <a:srgbClr val="1F4E79"/>
                </a:solidFill>
                <a:latin typeface="Arial"/>
              </a:rPr>
              <a:t>Absent / Failed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Arial"/>
              </a:rPr>
              <a:t>+  Severity ≥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45168" y="3218688"/>
            <a:ext cx="2185416" cy="384048"/>
          </a:xfrm>
          <a:prstGeom prst="rect">
            <a:avLst/>
          </a:prstGeom>
          <a:solidFill>
            <a:srgbClr val="5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45168" y="3310128"/>
            <a:ext cx="21854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→   SIF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5168" y="3730752"/>
            <a:ext cx="21854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A5A5A"/>
                </a:solidFill>
                <a:latin typeface="Arial"/>
              </a:rPr>
              <a:t>All three, or it is not flagged. The flag is computed from the gates, never typed.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56048"/>
            <a:ext cx="11274552" cy="129844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508406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Arial"/>
              </a:rPr>
              <a:t>SYSTEM ARCHITECTURE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394960"/>
            <a:ext cx="2487168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CLIENT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React SPA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worker screen  ·  admin triage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18688" y="5614416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0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74720" y="5394960"/>
            <a:ext cx="2487168" cy="457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84448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F4E79"/>
                </a:solidFill>
                <a:latin typeface="Arial"/>
              </a:rPr>
              <a:t>API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FastAPI on Render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REST  ·  Pydantic validation  ·  CORS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0176" y="5614416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36208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36208" y="5394960"/>
            <a:ext cx="2487168" cy="45720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45936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E7A5E"/>
                </a:solidFill>
                <a:latin typeface="Arial"/>
              </a:rPr>
              <a:t>MODELS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Groq GPT-OSS-20B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with local TF-IDF fallback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41664" y="5614416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97696" y="5394960"/>
            <a:ext cx="24871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997696" y="5394960"/>
            <a:ext cx="2487168" cy="45720"/>
          </a:xfrm>
          <a:prstGeom prst="rect">
            <a:avLst/>
          </a:prstGeom>
          <a:solidFill>
            <a:srgbClr val="5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07424" y="5449824"/>
            <a:ext cx="226771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5B4EA8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Supabase PostgreSQL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5A5A5A"/>
                </a:solidFill>
                <a:latin typeface="Arial"/>
              </a:rPr>
              <a:t>reports · predictions · labels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4846320" cy="2542032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484632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52144"/>
            <a:ext cx="4846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Feasible because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Uses existing incident reports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No specialized hardware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API-based &amp; scalable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LLM + local fallback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097280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CHALLENGES  →  SOLUTIONS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532120" y="1426464"/>
          <a:ext cx="61996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547872"/>
              </a:tblGrid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Challenge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Solution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Unstructured text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LLM reads it against a written rubric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Ambiguous controls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4-state classification, silence ≠ absent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API failure or rate limit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Retry inside a deadline, then local model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Domain variation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Tested against 30 real OSHA narratives, not only our own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Model version changes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Dashboard scopes to one version at a time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57200" y="4160520"/>
            <a:ext cx="11274552" cy="207568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34256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Arial"/>
              </a:rPr>
              <a:t>HUMAN-IN-THE-LOOP — the system ranks, a person decides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Report arrives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worker types or speaks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53512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4952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AI classifies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three gates +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8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9783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1223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Queue reorders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highest risk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5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Officer reviews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reads the reasoning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50292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070C0"/>
                </a:solidFill>
                <a:latin typeface="Arial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82328" y="4736592"/>
            <a:ext cx="19385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73767" y="4736592"/>
            <a:ext cx="175564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Officer decides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A5A5A"/>
                </a:solidFill>
                <a:latin typeface="Arial"/>
              </a:rPr>
              <a:t>dispatch or archive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15000"/>
            <a:ext cx="10698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43A2E"/>
                </a:solidFill>
                <a:latin typeface="Arial"/>
              </a:rPr>
              <a:t>SANKET never closes a report. It only changes the order they are read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304288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24128"/>
            <a:ext cx="5532120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5532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Potential impact on target 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190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Early detection of SIF precursors in OIL safety reports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Prioritized review of high-risk incidents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Faster identification of recurring hazards across sites / 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024128"/>
            <a:ext cx="5532120" cy="2304288"/>
          </a:xfrm>
          <a:prstGeom prst="rect">
            <a:avLst/>
          </a:prstGeom>
          <a:solidFill>
            <a:srgbClr val="F2F6FA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024128"/>
            <a:ext cx="5532120" cy="47548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1124712"/>
            <a:ext cx="5532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17190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Safety: proactive intervention before serious incidents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Operational: reduces manual screening effort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Economic: prevents costly injuries and downtime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●  Scalable: handles large volumes of reports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93008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Arial"/>
              </a:rPr>
              <a:t>MEASURED ON OUR PROTOTYPE DATA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3767328"/>
          <a:ext cx="1127455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377440"/>
                <a:gridCol w="5788152"/>
              </a:tblGrid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Labelled corpus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180 reports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150 written for the prototype + 30 real OSHA narratives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Human reviews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every report read by two people against one written rubric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Agreed gold labels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both reviewers reached the same verdict on all three gates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Reviewer agreement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97%  (kappa 0.947)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on a 38-report sample reviewed independently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457200" y="5724144"/>
            <a:ext cx="11274552" cy="6035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879592"/>
            <a:ext cx="112745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Safety Reports  →  SIF Precursors  →  Risk Prioritization  →  Early Action  →  Safer Operations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182880"/>
            <a:ext cx="1298448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28016"/>
            <a:ext cx="8229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Times New Roman"/>
              </a:rPr>
              <a:t>RESEARCH  AND REFERENCES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146304"/>
            <a:ext cx="1549279" cy="731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37960"/>
            <a:ext cx="594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87552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Prototype evaluation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16736"/>
          <a:ext cx="11274552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5056632"/>
              </a:tblGrid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How it was measured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Human agreement ceiling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97%  ·  kappa 0.947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two reviewers, working separately, n=38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TF-IDF baseline (F1)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0.754  ± 0.077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5-fold cross-validation, n=114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2651760"/>
            <a:ext cx="11274552" cy="420624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34056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Arial"/>
              </a:rPr>
              <a:t>The ceiling is the bar: two people applying the same rubric to the same reports agreed 97% of the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00400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9"/>
                </a:solidFill>
                <a:latin typeface="Arial"/>
              </a:rPr>
              <a:t>References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3511296"/>
          <a:ext cx="11274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7068312"/>
              </a:tblGrid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What we take from it</a:t>
                      </a:r>
                    </a:p>
                  </a:txBody>
                  <a:tcPr marL="91440" marR="54864" marT="18288" marB="18288"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DEKRA — Martin &amp; Black (2015)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the SIF precursor concept  (cited by the problem statement)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Edison Electric Institute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SIF Precursor model  (cited by the problem statement)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VelocityEHS (2024)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PSIF classifier  (cited by the problem statement)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IOGP Report 459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Life-Saving Rules — our eight hazard categories</a:t>
                      </a:r>
                    </a:p>
                  </a:txBody>
                  <a:tcPr marL="91440" marR="54864" marT="18288" marB="18288" anchor="ctr">
                    <a:solidFill>
                      <a:srgbClr val="F2F6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OSHA Severe Injury Reports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30 real narratives, used to check we generalise beyond our own data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57200" y="5943600"/>
            <a:ext cx="11274552" cy="384048"/>
          </a:xfrm>
          <a:prstGeom prst="rect">
            <a:avLst/>
          </a:prstGeom>
          <a:solidFill>
            <a:srgbClr val="E8F1F8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Arial"/>
              </a:rPr>
              <a:t>Live prototype:  https://sanket-frontend.onrender.com        Code:  github.com/sukanya-2006/SANKET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