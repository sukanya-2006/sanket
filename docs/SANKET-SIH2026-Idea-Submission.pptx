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052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700" b="1">
                <a:solidFill>
                  <a:srgbClr val="1F4E79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9052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000000"/>
                </a:solidFill>
                <a:latin typeface="Times New Roman"/>
              </a:rPr>
              <a:t>TITLE PAGE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6032"/>
            <a:ext cx="2091527" cy="98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965960"/>
            <a:ext cx="106070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Problem Statement ID -  SIH26165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Problem Statement Title -  AI/NLP Engine to Detect Serious Injury &amp; Fatality (SIF) Precursors in OIL's Unsafe-Act/Unsafe-Condition and Near-Miss Reports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Theme -  Smart Automation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PS Category -  Software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Team ID -  ____</a:t>
            </a:r>
          </a:p>
          <a:p>
            <a:pPr algn="l">
              <a:spcAft>
                <a:spcPts val="1600"/>
              </a:spcAft>
            </a:pPr>
            <a:r>
              <a:rPr sz="1750" b="1">
                <a:solidFill>
                  <a:srgbClr val="1A1A1A"/>
                </a:solidFill>
                <a:latin typeface="Arial"/>
              </a:rPr>
              <a:t>•  Team Name -  Signal-0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solidFill>
            <a:srgbClr val="E8F1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797296"/>
            <a:ext cx="10149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1F4E79"/>
                </a:solidFill>
                <a:latin typeface="Arial"/>
              </a:rPr>
              <a:t>Working prototype:   https://sanket-frontend.onrender.com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298448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Signal-0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128016"/>
            <a:ext cx="8229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000000"/>
                </a:solidFill>
                <a:latin typeface="Times New Roman"/>
              </a:rPr>
              <a:t>SANKET — From Incident Narratives to Early Safety Warnings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6304"/>
            <a:ext cx="1549279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1575" y="6537960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1091672" cy="658368"/>
          </a:xfrm>
          <a:prstGeom prst="rect">
            <a:avLst/>
          </a:prstGeom>
          <a:solidFill>
            <a:srgbClr val="E8F1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2161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4E79"/>
                </a:solidFill>
                <a:latin typeface="Arial"/>
              </a:rPr>
              <a:t>SANKET analyzes safety / near-miss reports using AI to detect potential Serious Injury &amp; Fatality (SIF) precursors.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5486400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0253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Identifies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Hazard &amp; Life-Saving Rule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Control status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Severity (1–5)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SIF Precursor: Yes / No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Evidence &amp; reasoning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1901952"/>
            <a:ext cx="5486400" cy="2286000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1901952"/>
            <a:ext cx="5486400" cy="475488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2002536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Innovation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LLM + ML hybrid approach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Explainable risk assessment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One-Change severity rule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A1A1A"/>
                </a:solidFill>
                <a:latin typeface="Arial"/>
              </a:rPr>
              <a:t>●  Prioritized safety-review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70832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HOW A REPORT IS JUDGED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700016"/>
          <a:ext cx="1109167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206240"/>
                <a:gridCol w="5056632"/>
              </a:tblGrid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Possible answers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  Hazard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Is a high-energy hazard present?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yes  ·  no  ·  insufficient information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2  Control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Was a safety barrier doing its job?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absent  ·  failed  ·  present  ·  unclear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3  Severity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How bad could it realistically have been?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1  to  5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298448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Signal-0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128016"/>
            <a:ext cx="8229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6304"/>
            <a:ext cx="1549279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1575" y="6537960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5806440" cy="3794760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5806440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24712"/>
            <a:ext cx="5806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Tech Stack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" y="1664208"/>
          <a:ext cx="539496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94560"/>
                <a:gridCol w="1828800"/>
              </a:tblGrid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Frontend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React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worker + admin screens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Backend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FastAPI (Python)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REST API, validation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AI model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Groq GPT-OSS-20B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reads the report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Fallback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TF-IDF + LogReg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answers if AI is down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Database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Supabase (PostgreSQL)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reports + predictions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Cache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on-instance, repeat calls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0" y="1024128"/>
            <a:ext cx="2606040" cy="3794760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024128"/>
            <a:ext cx="2606040" cy="475488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24712"/>
            <a:ext cx="2606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1968" y="1664208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664208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Report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2048256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48256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AI / 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1968" y="2432304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1968" y="2432304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Hazard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1968" y="2816352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816352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LSR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01968" y="3200400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3200400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1968" y="3584448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584448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1968" y="3968496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968496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SIF 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1968" y="4352544"/>
            <a:ext cx="21945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4352544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Risk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1920240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2304288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688336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3072384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1968" y="3456432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01968" y="3840480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224528"/>
            <a:ext cx="21945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E7A5E"/>
                </a:solidFill>
                <a:latin typeface="Arial"/>
              </a:rPr>
              <a:t>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1024128"/>
            <a:ext cx="2587752" cy="3794760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4000" y="1024128"/>
            <a:ext cx="2587752" cy="475488"/>
          </a:xfrm>
          <a:prstGeom prst="rect">
            <a:avLst/>
          </a:prstGeom>
          <a:solidFill>
            <a:srgbClr val="5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0" y="1124712"/>
            <a:ext cx="25877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SIF Rule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45168" y="1737360"/>
            <a:ext cx="21854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6608" y="1874519"/>
            <a:ext cx="2002536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F4E79"/>
                </a:solidFill>
                <a:latin typeface="Arial"/>
              </a:rPr>
              <a:t>Hazard = YES</a:t>
            </a:r>
          </a:p>
          <a:p>
            <a:pPr algn="ctr">
              <a:spcAft>
                <a:spcPts val="700"/>
              </a:spcAft>
            </a:pPr>
            <a:r>
              <a:rPr sz="1300" b="1">
                <a:solidFill>
                  <a:srgbClr val="1F4E79"/>
                </a:solidFill>
                <a:latin typeface="Arial"/>
              </a:rPr>
              <a:t>+  Control =</a:t>
            </a:r>
            <a:br/>
            <a:r>
              <a:rPr sz="1300" b="1">
                <a:solidFill>
                  <a:srgbClr val="1F4E79"/>
                </a:solidFill>
                <a:latin typeface="Arial"/>
              </a:rPr>
              <a:t>Absent / Failed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Arial"/>
              </a:rPr>
              <a:t>+  Severity ≥ 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45168" y="3218688"/>
            <a:ext cx="2185416" cy="384048"/>
          </a:xfrm>
          <a:prstGeom prst="rect">
            <a:avLst/>
          </a:prstGeom>
          <a:solidFill>
            <a:srgbClr val="5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8" y="3310128"/>
            <a:ext cx="218541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→   SIF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3730752"/>
            <a:ext cx="21854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All three, or it is not flagged. The flag is computed from the gates, never typed.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56048"/>
            <a:ext cx="11274552" cy="1298448"/>
          </a:xfrm>
          <a:prstGeom prst="rect">
            <a:avLst/>
          </a:prstGeom>
          <a:solidFill>
            <a:srgbClr val="E8F1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084064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4E79"/>
                </a:solidFill>
                <a:latin typeface="Arial"/>
              </a:rPr>
              <a:t>SYSTEM ARCHITECTURE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5394960"/>
            <a:ext cx="24871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3232" y="5394960"/>
            <a:ext cx="2487168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449824"/>
            <a:ext cx="2267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070C0"/>
                </a:solidFill>
                <a:latin typeface="Arial"/>
              </a:rPr>
              <a:t>CLIENT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React SPA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worker screen  ·  admin triage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18688" y="56144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0" y="5394960"/>
            <a:ext cx="24871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74720" y="5394960"/>
            <a:ext cx="2487168" cy="45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84448" y="5449824"/>
            <a:ext cx="2267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F4E79"/>
                </a:solidFill>
                <a:latin typeface="Arial"/>
              </a:rPr>
              <a:t>API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FastAPI on Render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REST  ·  Pydantic validation  ·  CORS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0176" y="56144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5394960"/>
            <a:ext cx="24871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36208" y="5394960"/>
            <a:ext cx="2487168" cy="45720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5449824"/>
            <a:ext cx="2267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1E7A5E"/>
                </a:solidFill>
                <a:latin typeface="Arial"/>
              </a:rPr>
              <a:t>MODELS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Groq GPT-OSS-20B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with local TF-IDF fallback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41664" y="5614416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97696" y="5394960"/>
            <a:ext cx="248716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997696" y="5394960"/>
            <a:ext cx="2487168" cy="45720"/>
          </a:xfrm>
          <a:prstGeom prst="rect">
            <a:avLst/>
          </a:prstGeom>
          <a:solidFill>
            <a:srgbClr val="5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07424" y="5449824"/>
            <a:ext cx="226771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5B4EA8"/>
                </a:solidFill>
                <a:latin typeface="Arial"/>
              </a:rPr>
              <a:t>DATA</a:t>
            </a:r>
          </a:p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A1A1A"/>
                </a:solidFill>
                <a:latin typeface="Arial"/>
              </a:rPr>
              <a:t>Supabase PostgreSQL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5A5A5A"/>
                </a:solidFill>
                <a:latin typeface="Arial"/>
              </a:rPr>
              <a:t>reports · predictions · 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298448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Signal-0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128016"/>
            <a:ext cx="8229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6304"/>
            <a:ext cx="1549279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1575" y="6537960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846320" cy="2542032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4846320" cy="475488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5214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Feasible because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737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Uses existing incident reports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No specialized hardware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API-based &amp; scalable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LLM + local fallback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097280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CHALLENGES  →  SOLUTIONS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32120" y="1426464"/>
          <a:ext cx="619963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547872"/>
              </a:tblGrid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Challenge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Solution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Unstructured text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LLM reads it against a written rubric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Ambiguous controls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4-state classification, silence ≠ absent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API failure or rate limit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Retry inside a deadline, then local model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Domain variation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Tested on 30 real OSHA reports - F1 0.118, an honest gap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Model version changes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Dashboard scopes to one version at a time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160520"/>
            <a:ext cx="11274552" cy="2075688"/>
          </a:xfrm>
          <a:prstGeom prst="rect">
            <a:avLst/>
          </a:prstGeom>
          <a:solidFill>
            <a:srgbClr val="E8F1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34256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HUMAN-IN-THE-LOOP — the system ranks, a person decides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36592"/>
            <a:ext cx="19385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736592"/>
            <a:ext cx="175564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Report arrives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worker types or speaks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50292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53512" y="4736592"/>
            <a:ext cx="19385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4736592"/>
            <a:ext cx="175564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AI classifies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three gates +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50292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9783" y="4736592"/>
            <a:ext cx="19385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1223" y="4736592"/>
            <a:ext cx="175564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Queue reorders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highest risk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0292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6055" y="4736592"/>
            <a:ext cx="19385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7496" y="4736592"/>
            <a:ext cx="175564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Officer reviews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reads the reasoning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5029200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82328" y="4736592"/>
            <a:ext cx="19385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7" y="4736592"/>
            <a:ext cx="175564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Officer decides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dispatch or archive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98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43A2E"/>
                </a:solidFill>
                <a:latin typeface="Arial"/>
              </a:rPr>
              <a:t>SANKET never closes a report. It only changes the order they are read 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298448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Signal-0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128016"/>
            <a:ext cx="8229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6304"/>
            <a:ext cx="1549279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1575" y="6537960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24128"/>
            <a:ext cx="5532120" cy="2304288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024128"/>
            <a:ext cx="5532120" cy="4754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24712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Potential impact on target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190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Early detection of SIF precursors in OIL safety reports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Prioritized review of high-risk incidents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Faster identification of recurring hazards across sites / activities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024128"/>
            <a:ext cx="5532120" cy="2304288"/>
          </a:xfrm>
          <a:prstGeom prst="rect">
            <a:avLst/>
          </a:prstGeom>
          <a:solidFill>
            <a:srgbClr val="F2F6FA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024128"/>
            <a:ext cx="5532120" cy="475488"/>
          </a:xfrm>
          <a:prstGeom prst="rect">
            <a:avLst/>
          </a:prstGeom>
          <a:solidFill>
            <a:srgbClr val="1E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124712"/>
            <a:ext cx="5532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1907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Safety: proactive intervention before serious incidents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Operational: reduces manual screening effort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Economic: prevents costly injuries and downtime</a:t>
            </a:r>
          </a:p>
          <a:p>
            <a:pPr algn="l">
              <a:spcAft>
                <a:spcPts val="13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●  Scalable: handles large volumes of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93008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MEASURED ON OUR PROTOTYPE DATA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767328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377440"/>
                <a:gridCol w="5788152"/>
              </a:tblGrid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Labelled corpus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180 reports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150 written for the prototype + 30 real OSHA narratives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Human reviews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every report read by two people against one written rubric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Agreed gold labels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7 reports still being adjudicated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Reviewer agreement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97%  (kappa 0.947)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on a 38-report sample reviewed independently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457200" y="5596128"/>
            <a:ext cx="11274552" cy="658368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779008"/>
            <a:ext cx="1127455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"/>
              </a:rPr>
              <a:t>Safety Reports  →  SIF Precursors  →  Risk Prioritization  →  Early Action  →  Safer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182880"/>
            <a:ext cx="1298448" cy="6035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5E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Signal-0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83080" y="128016"/>
            <a:ext cx="82296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000000"/>
                </a:solidFill>
                <a:latin typeface="Times New Roman"/>
              </a:rPr>
              <a:t>RESEARCH  AND REFERENCES</a:t>
            </a:r>
          </a:p>
        </p:txBody>
      </p:sp>
      <p:pic>
        <p:nvPicPr>
          <p:cNvPr id="4" name="Picture 3" descr="sih-2026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46304"/>
            <a:ext cx="1549279" cy="731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73952"/>
            <a:ext cx="12191695" cy="38404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31575" y="6537960"/>
            <a:ext cx="594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</a:rPr>
              <a:t>Research: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IOGP Life-Saving Rules  •  DEKRA SIF Framework  •  EEI SIF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Arial"/>
              </a:rPr>
              <a:t>Data: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150 synthetic safety reports  +  30 OSHA severe-injury reports  ·  360 reviews by two people  ·  173 agreed gold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4E79"/>
                </a:solidFill>
                <a:latin typeface="Arial"/>
              </a:rPr>
              <a:t>Prototype Evaluation: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633472"/>
          <a:ext cx="11274552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2651760"/>
                <a:gridCol w="5056632"/>
              </a:tblGrid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How it was measured</a:t>
                      </a:r>
                    </a:p>
                  </a:txBody>
                  <a:tcPr marL="91440" marR="54864" marT="18288" marB="18288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Human agreement ceiling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97%  ·  kappa 0.947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reviewers, working separately, n=38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TF-IDF baseline (F1)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0.754  ± 0.077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5-fold cross-validation, n=114</a:t>
                      </a:r>
                    </a:p>
                  </a:txBody>
                  <a:tcPr marL="91440" marR="54864" marT="18288" marB="18288" anchor="ctr">
                    <a:solidFill>
                      <a:srgbClr val="F2F6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LLM classifier (F1)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being re-measured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previous figure withdrawn — see note below</a:t>
                      </a:r>
                    </a:p>
                  </a:txBody>
                  <a:tcPr marL="91440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370832"/>
            <a:ext cx="11274552" cy="658368"/>
          </a:xfrm>
          <a:prstGeom prst="rect">
            <a:avLst/>
          </a:prstGeom>
          <a:solidFill>
            <a:srgbClr val="FDF2EF"/>
          </a:solidFill>
          <a:ln w="12700">
            <a:solidFill>
              <a:srgbClr val="E5C3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106984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B43A2E"/>
                </a:solidFill>
                <a:latin typeface="Arial"/>
              </a:rPr>
              <a:t>Why the LLM figure is withdrawn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A1A1A"/>
                </a:solidFill>
                <a:latin typeface="Arial"/>
              </a:rPr>
              <a:t>We found one of our held-out test reports written into the AI prompt, so the old score was not a fair test. We pulled the number rather than ship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30368"/>
            <a:ext cx="11274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4E79"/>
                </a:solidFill>
                <a:latin typeface="Arial"/>
              </a:rPr>
              <a:t>What the ceiling means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Two people applying the same rubric to the same reports agreed 97% of the time. No classifier scored against those labels can honestly claim to be more consistent than the people who made them.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943600"/>
            <a:ext cx="11274552" cy="384048"/>
          </a:xfrm>
          <a:prstGeom prst="rect">
            <a:avLst/>
          </a:prstGeom>
          <a:solidFill>
            <a:srgbClr val="E8F1F8"/>
          </a:solidFill>
          <a:ln w="12700">
            <a:solidFill>
              <a:srgbClr val="C9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016752"/>
            <a:ext cx="10789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Live prototype:  https://sanket-frontend.onrender.com        Code:  github.com/sukanya-2006/SANKET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