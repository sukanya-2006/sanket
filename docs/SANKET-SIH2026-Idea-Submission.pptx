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8686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1F3864"/>
                </a:solidFill>
                <a:latin typeface="Times New Roman"/>
              </a:rPr>
              <a:t>SMART INDIA HACKATHON 2026</a:t>
            </a:r>
          </a:p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Times New Roman"/>
              </a:rPr>
              <a:t>TITLE PAGE</a:t>
            </a:r>
          </a:p>
        </p:txBody>
      </p:sp>
      <p:pic>
        <p:nvPicPr>
          <p:cNvPr id="3" name="Picture 2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56032"/>
            <a:ext cx="2033429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783080"/>
            <a:ext cx="777240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Problem Statement ID  –  SIH26165</a:t>
            </a:r>
          </a:p>
          <a:p>
            <a:pPr algn="l">
              <a:spcAft>
                <a:spcPts val="13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Problem Statement Title  –  AI/NLP Engine to Detect Serious Injury &amp; Fatality (SIF) Precursors in OIL's Unsafe-Act / Unsafe-Condition and Near-Miss Reports</a:t>
            </a:r>
          </a:p>
          <a:p>
            <a:pPr algn="l">
              <a:spcAft>
                <a:spcPts val="13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Theme  –  Smart Automation</a:t>
            </a:r>
          </a:p>
          <a:p>
            <a:pPr algn="l">
              <a:spcAft>
                <a:spcPts val="13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PS Category  –  Software</a:t>
            </a:r>
          </a:p>
          <a:p>
            <a:pPr algn="l">
              <a:spcAft>
                <a:spcPts val="13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Team ID  –  ____</a:t>
            </a:r>
          </a:p>
          <a:p>
            <a:pPr algn="l">
              <a:spcAft>
                <a:spcPts val="13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Team Name  –  Signal-0</a:t>
            </a:r>
          </a:p>
        </p:txBody>
      </p:sp>
      <p:sp>
        <p:nvSpPr>
          <p:cNvPr id="5" name="Rectangle 4"/>
          <p:cNvSpPr/>
          <p:nvPr/>
        </p:nvSpPr>
        <p:spPr>
          <a:xfrm>
            <a:off x="8796528" y="1783080"/>
            <a:ext cx="2907792" cy="1481328"/>
          </a:xfrm>
          <a:prstGeom prst="rect">
            <a:avLst/>
          </a:prstGeom>
          <a:solidFill>
            <a:srgbClr val="F3F7FB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96528" y="1783080"/>
            <a:ext cx="2907792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6840" y="2084831"/>
            <a:ext cx="248716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900" b="1" i="0">
                <a:solidFill>
                  <a:srgbClr val="1F3864"/>
                </a:solidFill>
                <a:latin typeface="Times New Roman"/>
              </a:rPr>
              <a:t>SANKET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55E68"/>
                </a:solidFill>
                <a:latin typeface="Calibri"/>
              </a:rPr>
              <a:t>SIF Precursor Detection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64608"/>
            <a:ext cx="10927080" cy="13716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047488"/>
            <a:ext cx="10287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Reads a free-text safety report and answers one question: could this have killed someone?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1720" y="5596128"/>
            <a:ext cx="2377440" cy="402336"/>
          </a:xfrm>
          <a:prstGeom prst="roundRect">
            <a:avLst>
              <a:gd name="adj" fmla="val 20000"/>
            </a:avLst>
          </a:prstGeom>
          <a:solidFill>
            <a:srgbClr val="E4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HAZARD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5632704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5596128"/>
            <a:ext cx="2377440" cy="402336"/>
          </a:xfrm>
          <a:prstGeom prst="roundRect">
            <a:avLst>
              <a:gd name="adj" fmla="val 20000"/>
            </a:avLst>
          </a:prstGeom>
          <a:solidFill>
            <a:srgbClr val="E4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CONTROL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5632704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5596128"/>
            <a:ext cx="2377440" cy="402336"/>
          </a:xfrm>
          <a:prstGeom prst="roundRect">
            <a:avLst>
              <a:gd name="adj" fmla="val 20000"/>
            </a:avLst>
          </a:prstGeom>
          <a:solidFill>
            <a:srgbClr val="E4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PLAUSIBLE SEVERITY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7744" y="182880"/>
            <a:ext cx="1298448" cy="5303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" y="128016"/>
            <a:ext cx="8321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Times New Roman"/>
              </a:rPr>
              <a:t>SANKET — EARLY SAFETY WARNINGS FROM INCIDENT NARRATIVES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46304"/>
            <a:ext cx="1646109" cy="7772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28816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745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/>
              </a:rPr>
              <a:t>Reads a safety or near-miss report and answers one question: could this have killed someone?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5532120" cy="2103120"/>
          </a:xfrm>
          <a:prstGeom prst="rect">
            <a:avLst/>
          </a:prstGeom>
          <a:solidFill>
            <a:srgbClr val="F3F7FB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5532120" cy="384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1773936"/>
            <a:ext cx="50566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70C0"/>
                </a:solidFill>
                <a:latin typeface="Calibri"/>
              </a:rPr>
              <a:t>WHAT IT IDENTIFIES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0574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Hazard + Life-Saving Rule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Control status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Severity (1-5)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SIF Precursor: Yes / No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Evidence &amp; reasoning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600200"/>
            <a:ext cx="5532120" cy="2103120"/>
          </a:xfrm>
          <a:prstGeom prst="rect">
            <a:avLst/>
          </a:prstGeom>
          <a:solidFill>
            <a:srgbClr val="F3F7FB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600200"/>
            <a:ext cx="5532120" cy="38404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1773936"/>
            <a:ext cx="50566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E7A5E"/>
                </a:solidFill>
                <a:latin typeface="Calibri"/>
              </a:rPr>
              <a:t>WHAT MAKES IT DIFFERENT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0574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Three gates, not one score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One-Change severity rule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LLM + local ML fallback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Ranks a queue - never closes a report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Every judgement logged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58768"/>
            <a:ext cx="11274552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59936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070C0"/>
                </a:solidFill>
                <a:latin typeface="Calibri"/>
              </a:rPr>
              <a:t>THE THREE GATES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425696"/>
            <a:ext cx="3200400" cy="1078992"/>
          </a:xfrm>
          <a:prstGeom prst="rect">
            <a:avLst/>
          </a:prstGeom>
          <a:solidFill>
            <a:srgbClr val="F3F7FB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4425696"/>
            <a:ext cx="3200400" cy="3657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5" y="4572000"/>
            <a:ext cx="2788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070C0"/>
                </a:solidFill>
                <a:latin typeface="Calibri"/>
              </a:rPr>
              <a:t>GATE 1  ·  HAZARD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Is a high-energy hazard present?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5E68"/>
                </a:solidFill>
                <a:latin typeface="Calibri"/>
              </a:rPr>
              <a:t>yes · no · insufficient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32504" y="482803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070C0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1688" y="4425696"/>
            <a:ext cx="3200400" cy="1078992"/>
          </a:xfrm>
          <a:prstGeom prst="rect">
            <a:avLst/>
          </a:prstGeom>
          <a:solidFill>
            <a:srgbClr val="F3F7FB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1688" y="4425696"/>
            <a:ext cx="3200400" cy="36576"/>
          </a:xfrm>
          <a:prstGeom prst="rect">
            <a:avLst/>
          </a:prstGeom>
          <a:solidFill>
            <a:srgbClr val="A16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1144" y="4572000"/>
            <a:ext cx="2788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A16A0B"/>
                </a:solidFill>
                <a:latin typeface="Calibri"/>
              </a:rPr>
              <a:t>GATE 2  ·  CONTROL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Was a barrier doing its job?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5E68"/>
                </a:solidFill>
                <a:latin typeface="Calibri"/>
              </a:rPr>
              <a:t>absent · failed · present · unclear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16952" y="482803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070C0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46136" y="4425696"/>
            <a:ext cx="3200400" cy="1078992"/>
          </a:xfrm>
          <a:prstGeom prst="rect">
            <a:avLst/>
          </a:prstGeom>
          <a:solidFill>
            <a:srgbClr val="F3F7FB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46136" y="4425696"/>
            <a:ext cx="3200400" cy="36576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5592" y="4572000"/>
            <a:ext cx="2788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E7A5E"/>
                </a:solidFill>
                <a:latin typeface="Calibri"/>
              </a:rPr>
              <a:t>GATE 3  ·  SEVERITY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Plausible worst case?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5E68"/>
                </a:solidFill>
                <a:latin typeface="Calibri"/>
              </a:rPr>
              <a:t>1 - 5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687568"/>
            <a:ext cx="10607040" cy="402336"/>
          </a:xfrm>
          <a:prstGeom prst="roundRect">
            <a:avLst>
              <a:gd name="adj" fmla="val 20000"/>
            </a:avLst>
          </a:prstGeom>
          <a:solidFill>
            <a:srgbClr val="B4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SIF PRECURSOR  =  Hazard YES   +   Control ABSENT / FAILED   +   Severity &gt;=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7744" y="182880"/>
            <a:ext cx="1298448" cy="5303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" y="128016"/>
            <a:ext cx="8321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 i="0">
                <a:solidFill>
                  <a:srgbClr val="1F3864"/>
                </a:solidFill>
                <a:latin typeface="Times New Roman"/>
              </a:rPr>
              <a:t>TECHNICAL APPROACH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46304"/>
            <a:ext cx="1646109" cy="7772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28816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1481328" cy="9144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35024"/>
            <a:ext cx="14813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38528" y="1024128"/>
            <a:ext cx="9793224" cy="914400"/>
          </a:xfrm>
          <a:prstGeom prst="rect">
            <a:avLst/>
          </a:prstGeom>
          <a:solidFill>
            <a:srgbClr val="F3F7FB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12848" y="1133856"/>
            <a:ext cx="429768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22576" y="1133856"/>
            <a:ext cx="407822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Field Worker  ·  React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55E68"/>
                </a:solidFill>
                <a:latin typeface="Calibri"/>
              </a:rPr>
              <a:t>voice or typed report  →  instant classification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67728" y="1133856"/>
            <a:ext cx="429768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77456" y="1133856"/>
            <a:ext cx="407822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HSE Admin  ·  React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55E68"/>
                </a:solidFill>
                <a:latin typeface="Calibri"/>
              </a:rPr>
              <a:t>triage queue  ·  dispatch / archive  ·  risk 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975104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070C0"/>
                </a:solidFill>
                <a:latin typeface="Calibri"/>
              </a:rPr>
              <a:t>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481328" cy="12984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752344"/>
            <a:ext cx="14813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38528" y="2249424"/>
            <a:ext cx="9793224" cy="1298448"/>
          </a:xfrm>
          <a:prstGeom prst="rect">
            <a:avLst/>
          </a:prstGeom>
          <a:solidFill>
            <a:srgbClr val="F3F7FB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12848" y="2395728"/>
            <a:ext cx="27889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22576" y="2395728"/>
            <a:ext cx="2569463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FastAPI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55E68"/>
                </a:solidFill>
                <a:latin typeface="Calibri"/>
              </a:rPr>
              <a:t>REST  ·  Pydantic-validated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30368" y="2395728"/>
            <a:ext cx="310896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0096" y="2395728"/>
            <a:ext cx="2889504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Classifier boundary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55E68"/>
                </a:solidFill>
                <a:latin typeface="Calibri"/>
              </a:rPr>
              <a:t>cache → primary → retry → fallback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67928" y="2395728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77655" y="2395728"/>
            <a:ext cx="2478024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Aggregation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55E68"/>
                </a:solidFill>
                <a:latin typeface="Calibri"/>
              </a:rPr>
              <a:t>plain SQL  ·  GROUP BY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602736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070C0"/>
                </a:solidFill>
                <a:latin typeface="Calibri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877056"/>
            <a:ext cx="1481328" cy="1170432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315968"/>
            <a:ext cx="14813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MODELS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38528" y="3877056"/>
            <a:ext cx="9793224" cy="1170432"/>
          </a:xfrm>
          <a:prstGeom prst="rect">
            <a:avLst/>
          </a:prstGeom>
          <a:solidFill>
            <a:srgbClr val="F3F7FB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12848" y="4041648"/>
            <a:ext cx="429768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22576" y="4041648"/>
            <a:ext cx="40782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E7A5E"/>
                </a:solidFill>
                <a:latin typeface="Calibri"/>
              </a:rPr>
              <a:t>PRIMARY  ·  Groq gpt-oss-20b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55E68"/>
                </a:solidFill>
                <a:latin typeface="Calibri"/>
              </a:rPr>
              <a:t>three-gate prompt  ·  JSON out  ·  hard deadline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67728" y="4041648"/>
            <a:ext cx="429768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77456" y="4041648"/>
            <a:ext cx="40782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A16A0B"/>
                </a:solidFill>
                <a:latin typeface="Calibri"/>
              </a:rPr>
              <a:t>FALLBACK  ·  TF-IDF + LogReg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55E68"/>
                </a:solidFill>
                <a:latin typeface="Calibri"/>
              </a:rPr>
              <a:t>local  ·  no network  ·  answers when the API cannot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5102352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070C0"/>
                </a:solidFill>
                <a:latin typeface="Calibri"/>
              </a:rPr>
              <a:t>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58384"/>
            <a:ext cx="1481328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5678424"/>
            <a:ext cx="14813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38528" y="5358384"/>
            <a:ext cx="9793224" cy="932688"/>
          </a:xfrm>
          <a:prstGeom prst="rect">
            <a:avLst/>
          </a:prstGeom>
          <a:solidFill>
            <a:srgbClr val="F3F7FB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12848" y="5486400"/>
            <a:ext cx="2157984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22576" y="5486400"/>
            <a:ext cx="193852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reports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55E68"/>
                </a:solidFill>
                <a:latin typeface="Calibri"/>
              </a:rPr>
              <a:t>150 synthetic · 30 OSHA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17136" y="5486400"/>
            <a:ext cx="2157984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26864" y="5486400"/>
            <a:ext cx="193852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predictions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55E68"/>
                </a:solidFill>
                <a:latin typeface="Calibri"/>
              </a:rPr>
              <a:t>append-only log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21424" y="5486400"/>
            <a:ext cx="2157984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31152" y="5486400"/>
            <a:ext cx="193852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gold_labels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55E68"/>
                </a:solidFill>
                <a:latin typeface="Calibri"/>
              </a:rPr>
              <a:t>173 human labels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25712" y="5486400"/>
            <a:ext cx="2157984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35440" y="5486400"/>
            <a:ext cx="193852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report_status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55E68"/>
                </a:solidFill>
                <a:latin typeface="Calibri"/>
              </a:rPr>
              <a:t>triage state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7744" y="182880"/>
            <a:ext cx="1298448" cy="5303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" y="128016"/>
            <a:ext cx="8321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 i="0">
                <a:solidFill>
                  <a:srgbClr val="1F3864"/>
                </a:solidFill>
                <a:latin typeface="Times New Roman"/>
              </a:rPr>
              <a:t>FEASIBILITY AND VIABILITY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46304"/>
            <a:ext cx="1646109" cy="7772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28816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532120" cy="2514600"/>
          </a:xfrm>
          <a:prstGeom prst="rect">
            <a:avLst/>
          </a:prstGeom>
          <a:solidFill>
            <a:srgbClr val="F3F7FB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5532120" cy="38404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1225295"/>
            <a:ext cx="50566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E7A5E"/>
                </a:solidFill>
                <a:latin typeface="Calibri"/>
              </a:rPr>
              <a:t>FEASIBLE BECAUSE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53619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•  Uses incident reports that already exist</a:t>
            </a:r>
          </a:p>
          <a:p>
            <a:pPr algn="l">
              <a:spcAft>
                <a:spcPts val="13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•  No specialized hardware</a:t>
            </a:r>
          </a:p>
          <a:p>
            <a:pPr algn="l">
              <a:spcAft>
                <a:spcPts val="13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•  API-based &amp; scalable</a:t>
            </a:r>
          </a:p>
          <a:p>
            <a:pPr algn="l">
              <a:spcAft>
                <a:spcPts val="13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•  LLM + local fallback</a:t>
            </a:r>
          </a:p>
          <a:p>
            <a:pPr algn="l">
              <a:spcAft>
                <a:spcPts val="13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•  Human-in-the-loop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051560"/>
            <a:ext cx="5532120" cy="2514600"/>
          </a:xfrm>
          <a:prstGeom prst="rect">
            <a:avLst/>
          </a:prstGeom>
          <a:solidFill>
            <a:srgbClr val="F3F7FB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051560"/>
            <a:ext cx="5532120" cy="38404"/>
          </a:xfrm>
          <a:prstGeom prst="rect">
            <a:avLst/>
          </a:prstGeom>
          <a:solidFill>
            <a:srgbClr val="A16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1225295"/>
            <a:ext cx="50566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A16A0B"/>
                </a:solidFill>
                <a:latin typeface="Calibri"/>
              </a:rPr>
              <a:t>CHALLENGE  → 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53619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•  Unstructured text  →  LLM analysis</a:t>
            </a:r>
          </a:p>
          <a:p>
            <a:pPr algn="l">
              <a:spcAft>
                <a:spcPts val="13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•  Ambiguous controls  →  4-state classification</a:t>
            </a:r>
          </a:p>
          <a:p>
            <a:pPr algn="l">
              <a:spcAft>
                <a:spcPts val="13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•  API failure  →  retry + local fallback</a:t>
            </a:r>
          </a:p>
          <a:p>
            <a:pPr algn="l">
              <a:spcAft>
                <a:spcPts val="13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•  Domain variation  →  30 real OSHA reports</a:t>
            </a:r>
          </a:p>
          <a:p>
            <a:pPr algn="l">
              <a:spcAft>
                <a:spcPts val="13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•  Model changes  →  one version per dashboard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0752"/>
            <a:ext cx="11274552" cy="1481328"/>
          </a:xfrm>
          <a:prstGeom prst="rect">
            <a:avLst/>
          </a:prstGeom>
          <a:solidFill>
            <a:srgbClr val="FDF2EF"/>
          </a:solidFill>
          <a:ln w="12700">
            <a:solidFill>
              <a:srgbClr val="E5C3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1363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B43A2E"/>
                </a:solidFill>
                <a:latin typeface="Calibri"/>
              </a:rPr>
              <a:t>OUR REAL LIMIT IS TOKENS, NOT COMPUTE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79392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300" b="1" i="0">
                <a:solidFill>
                  <a:srgbClr val="B43A2E"/>
                </a:solidFill>
                <a:latin typeface="Calibri"/>
              </a:rPr>
              <a:t>200,000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55E68"/>
                </a:solidFill>
                <a:latin typeface="Calibri"/>
              </a:rPr>
              <a:t>tokens / day, free tier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65576" y="4279392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300" b="1" i="0">
                <a:solidFill>
                  <a:srgbClr val="B43A2E"/>
                </a:solidFill>
                <a:latin typeface="Calibri"/>
              </a:rPr>
              <a:t>~3,150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55E68"/>
                </a:solidFill>
                <a:latin typeface="Calibri"/>
              </a:rPr>
              <a:t>tokens per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3912" y="4279392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300" b="1" i="0">
                <a:solidFill>
                  <a:srgbClr val="B43A2E"/>
                </a:solidFill>
                <a:latin typeface="Calibri"/>
              </a:rPr>
              <a:t>63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55E68"/>
                </a:solidFill>
                <a:latin typeface="Calibri"/>
              </a:rPr>
              <a:t>reports / 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42248" y="4279392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300" b="1" i="0">
                <a:solidFill>
                  <a:srgbClr val="B43A2E"/>
                </a:solidFill>
                <a:latin typeface="Calibri"/>
              </a:rPr>
              <a:t>~2.8 days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55E68"/>
                </a:solidFill>
                <a:latin typeface="Calibri"/>
              </a:rPr>
              <a:t>full corpus re-run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76672"/>
            <a:ext cx="11274552" cy="914400"/>
          </a:xfrm>
          <a:prstGeom prst="rect">
            <a:avLst/>
          </a:prstGeom>
          <a:solidFill>
            <a:srgbClr val="F3F7FB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376672"/>
            <a:ext cx="11274552" cy="384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5550408"/>
            <a:ext cx="10799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70C0"/>
                </a:solidFill>
                <a:latin typeface="Calibri"/>
              </a:rPr>
              <a:t>SO THE PIPELINE IS BUILT TO SURVIVE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81558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Calibri"/>
              </a:rPr>
              <a:t>Resumable  ·  never stores a fallback as if it were a real answer  ·  dashboard always has data to show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7744" y="182880"/>
            <a:ext cx="1298448" cy="5303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" y="128016"/>
            <a:ext cx="8321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 i="0">
                <a:solidFill>
                  <a:srgbClr val="1F3864"/>
                </a:solidFill>
                <a:latin typeface="Times New Roman"/>
              </a:rPr>
              <a:t>IMPACT AND BENEFITS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46304"/>
            <a:ext cx="1646109" cy="7772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28816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532120" cy="2514600"/>
          </a:xfrm>
          <a:prstGeom prst="rect">
            <a:avLst/>
          </a:prstGeom>
          <a:solidFill>
            <a:srgbClr val="F3F7FB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5532120" cy="384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1225295"/>
            <a:ext cx="50566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70C0"/>
                </a:solidFill>
                <a:latin typeface="Calibri"/>
              </a:rPr>
              <a:t>POTENTIAL IMPACT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53619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•  Early detection of SIF precursors in OIL reports</a:t>
            </a:r>
          </a:p>
          <a:p>
            <a:pPr algn="l">
              <a:spcAft>
                <a:spcPts val="15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•  Prioritized review of high-risk incidents</a:t>
            </a:r>
          </a:p>
          <a:p>
            <a:pPr algn="l">
              <a:spcAft>
                <a:spcPts val="15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•  Ranks sites by precursor RATE, not count</a:t>
            </a:r>
          </a:p>
          <a:p>
            <a:pPr algn="l">
              <a:spcAft>
                <a:spcPts val="15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•  Finds recurring hazards across sites &amp; shifts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051560"/>
            <a:ext cx="5532120" cy="2514600"/>
          </a:xfrm>
          <a:prstGeom prst="rect">
            <a:avLst/>
          </a:prstGeom>
          <a:solidFill>
            <a:srgbClr val="F3F7FB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051560"/>
            <a:ext cx="5532120" cy="38404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1225295"/>
            <a:ext cx="50566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E7A5E"/>
                </a:solidFill>
                <a:latin typeface="Calibri"/>
              </a:rPr>
              <a:t>BENEFITS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53619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•  Safety  —  act before the incident</a:t>
            </a:r>
          </a:p>
          <a:p>
            <a:pPr algn="l">
              <a:spcAft>
                <a:spcPts val="15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•  Operational  —  no manual first-pass screen</a:t>
            </a:r>
          </a:p>
          <a:p>
            <a:pPr algn="l">
              <a:spcAft>
                <a:spcPts val="15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•  Economic  —  prevents injuries and downtime</a:t>
            </a:r>
          </a:p>
          <a:p>
            <a:pPr algn="l">
              <a:spcAft>
                <a:spcPts val="15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•  Scalable  —  ten reports or ten thousand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0752"/>
            <a:ext cx="11274552" cy="8412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950208"/>
            <a:ext cx="1127455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Safety Reports  →  SIF Precursors  →  Risk Prioritization  →  Early Action  →  Safer Operations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736592"/>
            <a:ext cx="11274552" cy="1554480"/>
          </a:xfrm>
          <a:prstGeom prst="rect">
            <a:avLst/>
          </a:prstGeom>
          <a:solidFill>
            <a:srgbClr val="F3F7FB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736592"/>
            <a:ext cx="11274552" cy="38404"/>
          </a:xfrm>
          <a:prstGeom prst="rect">
            <a:avLst/>
          </a:prstGeom>
          <a:solidFill>
            <a:srgbClr val="A16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910328"/>
            <a:ext cx="10799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A16A0B"/>
                </a:solidFill>
                <a:latin typeface="Calibri"/>
              </a:rPr>
              <a:t>WHY WE RANK BY RATE, NOT BY 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175504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A site that reports honestly logs more incidents. Counting them punishes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596128"/>
            <a:ext cx="5120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596128"/>
            <a:ext cx="45720" cy="457200"/>
          </a:xfrm>
          <a:prstGeom prst="rect">
            <a:avLst/>
          </a:prstGeom>
          <a:solidFill>
            <a:srgbClr val="B4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695" y="570585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B43A2E"/>
                </a:solidFill>
                <a:latin typeface="Calibri"/>
              </a:rPr>
              <a:t>Count  →  the busiest site always looks worst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79" y="5596128"/>
            <a:ext cx="5120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79" y="5596128"/>
            <a:ext cx="45720" cy="457200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570585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E7A5E"/>
                </a:solidFill>
                <a:latin typeface="Calibri"/>
              </a:rPr>
              <a:t>Rate  →  precursors ÷ reports, small groups held back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7744" y="182880"/>
            <a:ext cx="1298448" cy="5303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" y="128016"/>
            <a:ext cx="8321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 i="0">
                <a:solidFill>
                  <a:srgbClr val="1F3864"/>
                </a:solidFill>
                <a:latin typeface="Times New Roman"/>
              </a:rPr>
              <a:t>RESEARCH AND REFERENCES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46304"/>
            <a:ext cx="1646109" cy="7772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7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1575" y="6528816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74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70C0"/>
                </a:solidFill>
                <a:latin typeface="Calibri"/>
              </a:rPr>
              <a:t>RESEARCH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IOGP Life-Saving Rules  ·  DEKRA SIF Framework  ·  EEI SIF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27632"/>
            <a:ext cx="11274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70C0"/>
                </a:solidFill>
                <a:latin typeface="Calibri"/>
              </a:rPr>
              <a:t>DATA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150 synthetic reports  +  30 real OSHA severe-injury narratives  ·  173 gold labels  ·  2 annotators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11274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0070C0"/>
                </a:solidFill>
                <a:latin typeface="Calibri"/>
              </a:rPr>
              <a:t>PROTOTYPE EVALUATION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15184"/>
            <a:ext cx="360273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15184"/>
            <a:ext cx="3602736" cy="41148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779776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E7A5E"/>
                </a:solidFill>
                <a:latin typeface="Calibri"/>
              </a:rPr>
              <a:t>HUMAN CEILING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0175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0.947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38528" y="316382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5E68"/>
                </a:solidFill>
                <a:latin typeface="Calibri"/>
              </a:rPr>
              <a:t>Cohen's kappa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35661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55E68"/>
                </a:solidFill>
                <a:latin typeface="Calibri"/>
              </a:rPr>
              <a:t>97.4% agreement  ·  independent  ·  n=38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61104" y="2615184"/>
            <a:ext cx="360273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61104" y="2615184"/>
            <a:ext cx="3602736" cy="411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98848" y="2779776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70C0"/>
                </a:solidFill>
                <a:latin typeface="Calibri"/>
              </a:rPr>
              <a:t>TF-IDF 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30175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0.754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42432" y="316382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5E68"/>
                </a:solidFill>
                <a:latin typeface="Calibri"/>
              </a:rPr>
              <a:t>F1  ± 0.077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5661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55E68"/>
                </a:solidFill>
                <a:latin typeface="Calibri"/>
              </a:rPr>
              <a:t>5-fold CV  ·  PR-AUC 0.847  ·  n=114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615184"/>
            <a:ext cx="360273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65008" y="2615184"/>
            <a:ext cx="3602736" cy="41148"/>
          </a:xfrm>
          <a:prstGeom prst="rect">
            <a:avLst/>
          </a:prstGeom>
          <a:solidFill>
            <a:srgbClr val="555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02752" y="2779776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555E68"/>
                </a:solidFill>
                <a:latin typeface="Calibri"/>
              </a:rPr>
              <a:t>OSHA GENERALISATION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0175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0.118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46336" y="316382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5E68"/>
                </a:solidFill>
                <a:latin typeface="Calibri"/>
              </a:rPr>
              <a:t>F1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35661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55E68"/>
                </a:solidFill>
                <a:latin typeface="Calibri"/>
              </a:rPr>
              <a:t>real narratives  ·  n=30, too small to conclude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114800"/>
            <a:ext cx="11274552" cy="512064"/>
          </a:xfrm>
          <a:prstGeom prst="rect">
            <a:avLst/>
          </a:prstGeom>
          <a:solidFill>
            <a:srgbClr val="FDF2EF"/>
          </a:solidFill>
          <a:ln w="12700">
            <a:solidFill>
              <a:srgbClr val="E5C3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4261104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B43A2E"/>
                </a:solidFill>
                <a:latin typeface="Calibri"/>
              </a:rPr>
              <a:t>LLM F1 withdrawn — we found a held-out report inside our own prompt and pulled the number rather than ship it.  Re-measurement in progress.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754880"/>
            <a:ext cx="11274552" cy="1536192"/>
          </a:xfrm>
          <a:prstGeom prst="rect">
            <a:avLst/>
          </a:prstGeom>
          <a:solidFill>
            <a:srgbClr val="F3F7FB"/>
          </a:solidFill>
          <a:ln w="12700">
            <a:solidFill>
              <a:srgbClr val="C9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754880"/>
            <a:ext cx="11274552" cy="38404"/>
          </a:xfrm>
          <a:prstGeom prst="rect">
            <a:avLst/>
          </a:prstGeom>
          <a:solidFill>
            <a:srgbClr val="555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4928616"/>
            <a:ext cx="10799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55E68"/>
                </a:solidFill>
                <a:latin typeface="Calibri"/>
              </a:rPr>
              <a:t>STATED UP FRONT, BECAUSE A JUDGE WILL FIND THEM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5193792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A1A1A"/>
                </a:solidFill>
                <a:latin typeface="Calibri"/>
              </a:rPr>
              <a:t>Precursor rate 58.7%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5E68"/>
                </a:solidFill>
                <a:latin typeface="Calibri"/>
              </a:rPr>
              <a:t>not the 20–25% cited — our generator centred every report on a hazard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1688" y="5193792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A1A1A"/>
                </a:solidFill>
                <a:latin typeface="Calibri"/>
              </a:rPr>
              <a:t>Ceiling is n=38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5E68"/>
                </a:solidFill>
                <a:latin typeface="Calibri"/>
              </a:rPr>
              <a:t>a re-label subset, so we quote the subset, never a bare kappa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73568" y="5193792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A1A1A"/>
                </a:solidFill>
                <a:latin typeface="Calibri"/>
              </a:rPr>
              <a:t>No accuracy figure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5E68"/>
                </a:solidFill>
                <a:latin typeface="Calibri"/>
              </a:rPr>
              <a:t>and never a baseline scored on its own training 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5998464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GitHub:  SANKET — AI-powered SIF precursor detection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